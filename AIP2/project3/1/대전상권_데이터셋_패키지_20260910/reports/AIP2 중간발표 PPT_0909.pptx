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5" r:id="rId4"/>
    <p:sldId id="258" r:id="rId5"/>
    <p:sldId id="267" r:id="rId6"/>
    <p:sldId id="259" r:id="rId7"/>
    <p:sldId id="268" r:id="rId8"/>
    <p:sldId id="269" r:id="rId9"/>
    <p:sldId id="270" r:id="rId10"/>
    <p:sldId id="271" r:id="rId11"/>
    <p:sldId id="272" r:id="rId12"/>
    <p:sldId id="266" r:id="rId13"/>
    <p:sldId id="260" r:id="rId14"/>
    <p:sldId id="262" r:id="rId15"/>
    <p:sldId id="263" r:id="rId16"/>
    <p:sldId id="261" r:id="rId17"/>
    <p:sldId id="264" r:id="rId1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4C2B3D-2EFA-CB86-B0EB-5E3C2B1F02AC}" v="531" dt="2026-09-09T14:37:43.337"/>
    <p1510:client id="{C0565E08-56E7-E76F-6C0F-CA8EA9F4FDC0}" v="341" dt="2026-09-09T10:47:07.2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2026-09-09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971665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2026-09-09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3982937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2026-09-09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6234188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2026-09-09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196340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2026-09-09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3469982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2026-09-09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0272583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2026-09-09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5682316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2026-09-09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9606053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2026-09-09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649313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2026-09-09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0513095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2026-09-09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3956867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66825D-2B69-4989-8861-A6901ABADB6C}" type="datetimeFigureOut">
              <a:rPr lang="ko-KR" altLang="en-US" smtClean="0"/>
              <a:t>2026-09-09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6743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849671" y="514577"/>
            <a:ext cx="6523973" cy="2387600"/>
          </a:xfrm>
        </p:spPr>
        <p:txBody>
          <a:bodyPr>
            <a:normAutofit/>
          </a:bodyPr>
          <a:lstStyle/>
          <a:p>
            <a:r>
              <a:rPr lang="ko-KR" altLang="en-US" sz="4800" b="1" dirty="0">
                <a:ea typeface="맑은 고딕"/>
              </a:rPr>
              <a:t>AI 기반 대전 지역상권 활성화 추천 </a:t>
            </a:r>
            <a:r>
              <a:rPr lang="ko-KR" altLang="en-US" sz="4800" b="1" dirty="0" err="1">
                <a:ea typeface="맑은 고딕"/>
              </a:rPr>
              <a:t>시스탬</a:t>
            </a:r>
            <a:endParaRPr lang="ko-KR" altLang="en-US" sz="4800" b="1" dirty="0">
              <a:ea typeface="맑은 고딕"/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2849671" y="2994252"/>
            <a:ext cx="6523973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 dirty="0">
                <a:ea typeface="맑은 고딕"/>
              </a:rPr>
              <a:t>AIP2 인공지능 대전 문제 해결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EC5A7F1-AEE6-D8D0-3A8D-6D3D9F793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1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4EE5F5-C899-32E5-311D-9C8D6AC2D669}"/>
              </a:ext>
            </a:extLst>
          </p:cNvPr>
          <p:cNvSpPr txBox="1"/>
          <p:nvPr/>
        </p:nvSpPr>
        <p:spPr>
          <a:xfrm>
            <a:off x="294639" y="193039"/>
            <a:ext cx="144271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dirty="0">
                <a:ea typeface="맑은 고딕"/>
              </a:rPr>
              <a:t>[2026년 9월]</a:t>
            </a:r>
            <a:endParaRPr lang="ko-KR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F7A4495-FFCA-AC6F-A65D-010DAD83DE3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840" r="35931" b="1399"/>
          <a:stretch>
            <a:fillRect/>
          </a:stretch>
        </p:blipFill>
        <p:spPr>
          <a:xfrm>
            <a:off x="1733184" y="3026584"/>
            <a:ext cx="900707" cy="1465114"/>
          </a:xfrm>
          <a:prstGeom prst="rect">
            <a:avLst/>
          </a:prstGeom>
        </p:spPr>
      </p:pic>
      <p:pic>
        <p:nvPicPr>
          <p:cNvPr id="7" name="그림 6" descr="Ai 모델 - 무료 산업개 아이콘">
            <a:extLst>
              <a:ext uri="{FF2B5EF4-FFF2-40B4-BE49-F238E27FC236}">
                <a16:creationId xmlns:a16="http://schemas.microsoft.com/office/drawing/2014/main" id="{8023367C-7138-0A58-C466-B4A2E14739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5339" y="3367525"/>
            <a:ext cx="1135433" cy="92222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0134438-3C10-A99D-C5DF-E9005EA0078F}"/>
              </a:ext>
            </a:extLst>
          </p:cNvPr>
          <p:cNvSpPr txBox="1"/>
          <p:nvPr/>
        </p:nvSpPr>
        <p:spPr>
          <a:xfrm>
            <a:off x="4754879" y="3431177"/>
            <a:ext cx="268224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dirty="0">
                <a:ea typeface="맑은 고딕"/>
              </a:rPr>
              <a:t>22619014 </a:t>
            </a:r>
            <a:r>
              <a:rPr lang="ko-KR" altLang="en-US" dirty="0" err="1">
                <a:ea typeface="맑은 고딕"/>
              </a:rPr>
              <a:t>양다윗</a:t>
            </a:r>
            <a:r>
              <a:rPr lang="ko-KR" altLang="en-US" dirty="0">
                <a:ea typeface="맑은 고딕"/>
              </a:rPr>
              <a:t> </a:t>
            </a:r>
            <a:endParaRPr lang="ko-KR" altLang="en-US" dirty="0">
              <a:ea typeface="맑은 고딕" panose="020B0503020000020004" pitchFamily="34" charset="-127"/>
            </a:endParaRPr>
          </a:p>
          <a:p>
            <a:pPr algn="ctr"/>
            <a:r>
              <a:rPr lang="ko-KR" altLang="en-US" dirty="0">
                <a:ea typeface="맑은 고딕"/>
              </a:rPr>
              <a:t>246190 </a:t>
            </a:r>
            <a:r>
              <a:rPr lang="ko-KR" altLang="en-US" dirty="0" err="1">
                <a:ea typeface="맑은 고딕"/>
              </a:rPr>
              <a:t>엘몬</a:t>
            </a:r>
          </a:p>
          <a:p>
            <a:pPr algn="ctr"/>
            <a:r>
              <a:rPr lang="ko-KR" altLang="en-US" dirty="0">
                <a:ea typeface="맑은 고딕"/>
              </a:rPr>
              <a:t>246190 비비안</a:t>
            </a:r>
          </a:p>
          <a:p>
            <a:endParaRPr lang="ko-KR" altLang="en-US" dirty="0">
              <a:ea typeface="맑은 고딕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B5A96C-2D49-CE12-D62B-E102ACBD2669}"/>
              </a:ext>
            </a:extLst>
          </p:cNvPr>
          <p:cNvSpPr txBox="1"/>
          <p:nvPr/>
        </p:nvSpPr>
        <p:spPr>
          <a:xfrm>
            <a:off x="4888773" y="4720408"/>
            <a:ext cx="244855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dirty="0" err="1">
                <a:ea typeface="맑은 고딕"/>
              </a:rPr>
              <a:t>Konyang</a:t>
            </a:r>
            <a:r>
              <a:rPr lang="ko-KR" altLang="en-US" dirty="0">
                <a:ea typeface="맑은 고딕"/>
              </a:rPr>
              <a:t> </a:t>
            </a:r>
            <a:r>
              <a:rPr lang="ko-KR" altLang="en-US" dirty="0" err="1">
                <a:ea typeface="맑은 고딕"/>
              </a:rPr>
              <a:t>Univalsity</a:t>
            </a:r>
            <a:endParaRPr lang="ko-KR" altLang="en-US" dirty="0" err="1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1329ADB-883E-A352-1AA0-CE279C80984C}"/>
              </a:ext>
            </a:extLst>
          </p:cNvPr>
          <p:cNvSpPr/>
          <p:nvPr/>
        </p:nvSpPr>
        <p:spPr>
          <a:xfrm>
            <a:off x="3266" y="6653711"/>
            <a:ext cx="12186556" cy="203199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9210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9A3F3E-1A12-D1D3-B096-1D1465A50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742950" indent="-742950">
              <a:buAutoNum type="arabicPeriod"/>
            </a:pPr>
            <a:r>
              <a:rPr lang="ko-KR" altLang="en-US" dirty="0">
                <a:ea typeface="맑은 고딕"/>
              </a:rPr>
              <a:t>초록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496E2C-62DC-80C6-E697-CF2D278ECD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ko-KR" dirty="0">
                <a:ea typeface="+mn-lt"/>
                <a:cs typeface="+mn-lt"/>
              </a:rPr>
              <a:t>https://www.data.go.kr/data/15083033/fileData.do</a:t>
            </a:r>
            <a:endParaRPr lang="ko-KR" altLang="en-US">
              <a:ea typeface="+mn-lt"/>
              <a:cs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1366BE2-634A-1D3E-D6C2-C02C8CC58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D4DCA77-5A4F-2AD8-2AD6-6445498646F1}"/>
              </a:ext>
            </a:extLst>
          </p:cNvPr>
          <p:cNvSpPr/>
          <p:nvPr/>
        </p:nvSpPr>
        <p:spPr>
          <a:xfrm>
            <a:off x="3266" y="6653711"/>
            <a:ext cx="12186556" cy="203199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25914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4A156-B3AE-47A0-7ADB-E32CAD978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835158-44BE-6CDC-AD6A-EC6F7D7FD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ea typeface="맑은 고딕"/>
              </a:rPr>
              <a:t>2. 서론</a:t>
            </a:r>
            <a:endParaRPr lang="ko-KR" altLang="en-US">
              <a:ea typeface="맑은 고딕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2F0841D-314C-5F8B-B63B-C770847DD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F78FCBC-A145-E87C-BA2D-6C469102E570}"/>
              </a:ext>
            </a:extLst>
          </p:cNvPr>
          <p:cNvSpPr/>
          <p:nvPr/>
        </p:nvSpPr>
        <p:spPr>
          <a:xfrm>
            <a:off x="3266" y="6653711"/>
            <a:ext cx="12186556" cy="203199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4" name="내용 개체 틀 13">
            <a:extLst>
              <a:ext uri="{FF2B5EF4-FFF2-40B4-BE49-F238E27FC236}">
                <a16:creationId xmlns:a16="http://schemas.microsoft.com/office/drawing/2014/main" id="{C28B18CB-59A6-B37F-FC7B-6BC817BB16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-98" t="765" r="42"/>
          <a:stretch>
            <a:fillRect/>
          </a:stretch>
        </p:blipFill>
        <p:spPr>
          <a:xfrm>
            <a:off x="3266" y="1714500"/>
            <a:ext cx="12188734" cy="4066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8453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086B2B-F2F5-81C8-3EDD-A048251D4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ea typeface="맑은 고딕"/>
              </a:rPr>
              <a:t>2. 서론</a:t>
            </a:r>
            <a:endParaRPr lang="ko-KR" altLang="en-US">
              <a:ea typeface="맑은 고딕"/>
            </a:endParaRPr>
          </a:p>
        </p:txBody>
      </p:sp>
      <p:pic>
        <p:nvPicPr>
          <p:cNvPr id="7" name="내용 개체 틀 6" descr="성심당 빼면 노잼 도시' 대전이 달라졌다? &quot;진짜 '유잼 도시' 되려면...&quot; [인터뷰]-사회ㅣ한국일보">
            <a:extLst>
              <a:ext uri="{FF2B5EF4-FFF2-40B4-BE49-F238E27FC236}">
                <a16:creationId xmlns:a16="http://schemas.microsoft.com/office/drawing/2014/main" id="{A91BF353-3F84-5B0B-C54D-CE1ABDDFB1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40352" y="1689554"/>
            <a:ext cx="3054581" cy="4351338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64BAC83-E0C1-7FFD-C4CA-F1D00AD92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E2B1012-D876-4BAF-DE14-890C94373EA0}"/>
              </a:ext>
            </a:extLst>
          </p:cNvPr>
          <p:cNvSpPr/>
          <p:nvPr/>
        </p:nvSpPr>
        <p:spPr>
          <a:xfrm>
            <a:off x="3266" y="6653711"/>
            <a:ext cx="12186556" cy="203199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 descr="01화 성심당은 왜 인기있는 브랜드가 되었을까?">
            <a:extLst>
              <a:ext uri="{FF2B5EF4-FFF2-40B4-BE49-F238E27FC236}">
                <a16:creationId xmlns:a16="http://schemas.microsoft.com/office/drawing/2014/main" id="{C53CDF53-C671-5EBF-9B5F-D4EAAC18DD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9829" y="1527809"/>
            <a:ext cx="2743200" cy="1897380"/>
          </a:xfrm>
          <a:prstGeom prst="rect">
            <a:avLst/>
          </a:prstGeom>
        </p:spPr>
      </p:pic>
      <p:pic>
        <p:nvPicPr>
          <p:cNvPr id="9" name="그림 8" descr="디비피아, 한국교육학술정보원에 AI 학술정보 서비스 제공 | 중앙일보">
            <a:extLst>
              <a:ext uri="{FF2B5EF4-FFF2-40B4-BE49-F238E27FC236}">
                <a16:creationId xmlns:a16="http://schemas.microsoft.com/office/drawing/2014/main" id="{A2C366B2-E4D2-18B7-3DDD-10FF4793D7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1886" y="4610100"/>
            <a:ext cx="1973942" cy="1919514"/>
          </a:xfrm>
          <a:prstGeom prst="rect">
            <a:avLst/>
          </a:prstGeom>
        </p:spPr>
      </p:pic>
      <p:pic>
        <p:nvPicPr>
          <p:cNvPr id="10" name="그림 9" descr="대전시, 2024년 D-유니콘 3기 참여 기업 모집 &lt; 지역뉴스 &lt; 뉴스·이슈 &lt; 기사본문 - 스타트업엔(StartupN)">
            <a:extLst>
              <a:ext uri="{FF2B5EF4-FFF2-40B4-BE49-F238E27FC236}">
                <a16:creationId xmlns:a16="http://schemas.microsoft.com/office/drawing/2014/main" id="{2070F028-28C2-5E8E-E8C5-D2A7C03A7F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0072" y="3302000"/>
            <a:ext cx="1895929" cy="1923144"/>
          </a:xfrm>
          <a:prstGeom prst="rect">
            <a:avLst/>
          </a:prstGeom>
        </p:spPr>
      </p:pic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7FC9EF6B-370E-A4F8-256B-6C8B41AB16E6}"/>
              </a:ext>
            </a:extLst>
          </p:cNvPr>
          <p:cNvCxnSpPr/>
          <p:nvPr/>
        </p:nvCxnSpPr>
        <p:spPr>
          <a:xfrm>
            <a:off x="6762159" y="1680580"/>
            <a:ext cx="4590536" cy="11544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75190138-E6EA-19D2-2300-697CC7213BA6}"/>
              </a:ext>
            </a:extLst>
          </p:cNvPr>
          <p:cNvSpPr txBox="1"/>
          <p:nvPr/>
        </p:nvSpPr>
        <p:spPr>
          <a:xfrm>
            <a:off x="6757031" y="1066483"/>
            <a:ext cx="4731341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3200" dirty="0">
                <a:ea typeface="맑은 고딕"/>
              </a:rPr>
              <a:t>노잼 도시 이미지 고착화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862277B-C28B-4BD1-8264-534293E5D01D}"/>
              </a:ext>
            </a:extLst>
          </p:cNvPr>
          <p:cNvSpPr txBox="1"/>
          <p:nvPr/>
        </p:nvSpPr>
        <p:spPr>
          <a:xfrm>
            <a:off x="6759755" y="1910235"/>
            <a:ext cx="5079374" cy="470898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ko-KR" altLang="en-US" sz="2000" dirty="0">
                <a:ea typeface="맑은 고딕"/>
              </a:rPr>
              <a:t>시작은 </a:t>
            </a:r>
            <a:r>
              <a:rPr lang="ko-KR" altLang="en-US" sz="2000" b="1" dirty="0">
                <a:ea typeface="맑은 고딕"/>
              </a:rPr>
              <a:t>"지인이 대전에 온다면"</a:t>
            </a:r>
            <a:r>
              <a:rPr lang="ko-KR" altLang="en-US" sz="2000" dirty="0">
                <a:ea typeface="맑은 고딕"/>
              </a:rPr>
              <a:t> 알고리즘</a:t>
            </a:r>
            <a:endParaRPr lang="ko-KR" sz="2000">
              <a:ea typeface="맑은 고딕"/>
            </a:endParaRPr>
          </a:p>
          <a:p>
            <a:pPr marL="285750" indent="-285750">
              <a:buFont typeface="Arial,Sans-Serif"/>
              <a:buChar char="•"/>
            </a:pPr>
            <a:r>
              <a:rPr lang="ko-KR" sz="2000" b="1" dirty="0">
                <a:ea typeface="맑은 고딕"/>
              </a:rPr>
              <a:t>노잼 도시</a:t>
            </a:r>
            <a:r>
              <a:rPr lang="ko-KR" sz="2000" dirty="0">
                <a:ea typeface="맑은 고딕"/>
              </a:rPr>
              <a:t>라는 </a:t>
            </a:r>
            <a:r>
              <a:rPr lang="ko-KR" sz="2000" b="1" dirty="0" err="1">
                <a:ea typeface="맑은 고딕"/>
              </a:rPr>
              <a:t>밈</a:t>
            </a:r>
            <a:r>
              <a:rPr lang="ko-KR" sz="2000" dirty="0" err="1">
                <a:ea typeface="맑은 고딕"/>
              </a:rPr>
              <a:t>이</a:t>
            </a:r>
            <a:r>
              <a:rPr lang="ko-KR" sz="2000" dirty="0">
                <a:ea typeface="맑은 고딕"/>
              </a:rPr>
              <a:t> 생기고 나서 </a:t>
            </a:r>
            <a:r>
              <a:rPr lang="ko-KR" sz="2000" b="1" dirty="0">
                <a:ea typeface="맑은 고딕"/>
              </a:rPr>
              <a:t>블로그</a:t>
            </a:r>
            <a:r>
              <a:rPr lang="ko-KR" sz="2000" dirty="0">
                <a:ea typeface="맑은 고딕"/>
              </a:rPr>
              <a:t>에 대한 대전의 </a:t>
            </a:r>
            <a:r>
              <a:rPr lang="ko-KR" sz="2000" b="1" dirty="0">
                <a:ea typeface="맑은 고딕"/>
              </a:rPr>
              <a:t>관심이 급증</a:t>
            </a:r>
            <a:r>
              <a:rPr lang="ko-KR" sz="2000" dirty="0">
                <a:ea typeface="맑은 고딕"/>
              </a:rPr>
              <a:t>함</a:t>
            </a:r>
          </a:p>
          <a:p>
            <a:pPr marL="285750" indent="-285750">
              <a:buFont typeface="Arial"/>
              <a:buChar char="•"/>
            </a:pPr>
            <a:r>
              <a:rPr lang="ko-KR" altLang="en-US" sz="2000" b="1" dirty="0">
                <a:ea typeface="맑은 고딕"/>
              </a:rPr>
              <a:t>언론과 지방자치 단체장</a:t>
            </a:r>
            <a:r>
              <a:rPr lang="ko-KR" altLang="en-US" sz="2000" dirty="0">
                <a:ea typeface="맑은 고딕"/>
              </a:rPr>
              <a:t>의 노잼 이미지화 </a:t>
            </a:r>
            <a:r>
              <a:rPr lang="ko-KR" altLang="en-US" sz="2000" b="1" dirty="0">
                <a:ea typeface="맑은 고딕"/>
              </a:rPr>
              <a:t>언급 및 경고 </a:t>
            </a:r>
          </a:p>
          <a:p>
            <a:pPr marL="285750" indent="-285750">
              <a:buFont typeface="Arial"/>
              <a:buChar char="•"/>
            </a:pPr>
            <a:r>
              <a:rPr lang="ko-KR" altLang="en-US" sz="2000" b="1" dirty="0" err="1">
                <a:ea typeface="맑은 고딕"/>
              </a:rPr>
              <a:t>노잼</a:t>
            </a:r>
            <a:r>
              <a:rPr lang="ko-KR" altLang="en-US" sz="2000" dirty="0" err="1">
                <a:ea typeface="맑은 고딕"/>
              </a:rPr>
              <a:t>은</a:t>
            </a:r>
            <a:r>
              <a:rPr lang="ko-KR" altLang="en-US" sz="2000" dirty="0">
                <a:ea typeface="맑은 고딕"/>
              </a:rPr>
              <a:t> 소비를 위한 요소가 되 </a:t>
            </a:r>
            <a:r>
              <a:rPr lang="ko-KR" altLang="en-US" sz="2000" b="1" dirty="0">
                <a:ea typeface="맑은 고딕"/>
              </a:rPr>
              <a:t>소비자를 유인 </a:t>
            </a:r>
            <a:r>
              <a:rPr lang="ko-KR" altLang="en-US" sz="2000" dirty="0">
                <a:ea typeface="맑은 고딕"/>
              </a:rPr>
              <a:t>했지만</a:t>
            </a:r>
          </a:p>
          <a:p>
            <a:pPr marL="285750" indent="-285750">
              <a:buFont typeface="Arial"/>
              <a:buChar char="•"/>
            </a:pPr>
            <a:r>
              <a:rPr lang="ko-KR" altLang="en-US" sz="2000" dirty="0">
                <a:ea typeface="맑은 고딕"/>
              </a:rPr>
              <a:t>이들이 머물다 간 공간에는 </a:t>
            </a:r>
            <a:r>
              <a:rPr lang="ko-KR" altLang="en-US" sz="2000" b="1" dirty="0">
                <a:ea typeface="맑은 고딕"/>
              </a:rPr>
              <a:t>어떤</a:t>
            </a:r>
            <a:r>
              <a:rPr lang="ko-KR" altLang="en-US" sz="2000" dirty="0">
                <a:ea typeface="맑은 고딕"/>
              </a:rPr>
              <a:t> </a:t>
            </a:r>
            <a:r>
              <a:rPr lang="ko-KR" altLang="en-US" sz="2000" b="1" dirty="0">
                <a:ea typeface="맑은 고딕"/>
              </a:rPr>
              <a:t>장소성도 남지 않음 </a:t>
            </a:r>
          </a:p>
          <a:p>
            <a:pPr marL="285750" indent="-285750">
              <a:buFont typeface="Arial"/>
              <a:buChar char="•"/>
            </a:pPr>
            <a:r>
              <a:rPr lang="ko-KR" altLang="en-US" sz="2000" dirty="0">
                <a:ea typeface="맑은 고딕"/>
              </a:rPr>
              <a:t>다른 체험과 기억이 없어서 </a:t>
            </a:r>
            <a:r>
              <a:rPr lang="ko-KR" altLang="en-US" sz="2000" b="1" dirty="0">
                <a:ea typeface="맑은 고딕"/>
              </a:rPr>
              <a:t>실제로 노잼 도시</a:t>
            </a:r>
            <a:r>
              <a:rPr lang="ko-KR" altLang="en-US" sz="2000" dirty="0">
                <a:ea typeface="맑은 고딕"/>
              </a:rPr>
              <a:t>가 됨</a:t>
            </a:r>
            <a:endParaRPr lang="ko-KR">
              <a:ea typeface="맑은 고딕"/>
            </a:endParaRPr>
          </a:p>
          <a:p>
            <a:pPr marL="285750" indent="-285750">
              <a:buFont typeface="Arial"/>
              <a:buChar char="•"/>
            </a:pPr>
            <a:r>
              <a:rPr lang="ko-KR" altLang="en-US" sz="2000" b="1" dirty="0">
                <a:ea typeface="맑은 고딕"/>
              </a:rPr>
              <a:t>새로운 대전의 요소</a:t>
            </a:r>
            <a:r>
              <a:rPr lang="ko-KR" altLang="en-US" sz="2000" dirty="0">
                <a:ea typeface="맑은 고딕"/>
              </a:rPr>
              <a:t>들과 </a:t>
            </a:r>
            <a:r>
              <a:rPr lang="ko-KR" altLang="en-US" sz="2000" b="1" dirty="0">
                <a:ea typeface="맑은 고딕"/>
              </a:rPr>
              <a:t>연계</a:t>
            </a:r>
            <a:r>
              <a:rPr lang="ko-KR" altLang="en-US" sz="2000" dirty="0">
                <a:ea typeface="맑은 고딕"/>
              </a:rPr>
              <a:t>한다면 </a:t>
            </a:r>
            <a:r>
              <a:rPr lang="ko-KR" altLang="en-US" sz="2000" b="1" dirty="0" err="1">
                <a:ea typeface="맑은 고딕"/>
              </a:rPr>
              <a:t>유잼도시</a:t>
            </a:r>
            <a:r>
              <a:rPr lang="ko-KR" altLang="en-US" sz="2000" dirty="0" err="1">
                <a:ea typeface="맑은 고딕"/>
              </a:rPr>
              <a:t>가</a:t>
            </a:r>
            <a:r>
              <a:rPr lang="ko-KR" altLang="en-US" sz="2000" dirty="0">
                <a:ea typeface="맑은 고딕"/>
              </a:rPr>
              <a:t> 될 수 있음 </a:t>
            </a:r>
          </a:p>
          <a:p>
            <a:pPr marL="285750" indent="-285750">
              <a:buFont typeface="Arial"/>
              <a:buChar char="•"/>
            </a:pPr>
            <a:r>
              <a:rPr lang="ko-KR" altLang="en-US" sz="2000" dirty="0">
                <a:ea typeface="맑은 고딕"/>
              </a:rPr>
              <a:t>사람들이 잘 </a:t>
            </a:r>
            <a:r>
              <a:rPr lang="ko-KR" altLang="en-US" sz="2000" b="1" dirty="0">
                <a:ea typeface="맑은 고딕"/>
              </a:rPr>
              <a:t>모르는 곳</a:t>
            </a:r>
            <a:r>
              <a:rPr lang="ko-KR" altLang="en-US" sz="2000" dirty="0">
                <a:ea typeface="맑은 고딕"/>
              </a:rPr>
              <a:t>을 알려주는 </a:t>
            </a:r>
            <a:r>
              <a:rPr lang="ko-KR" altLang="en-US" sz="2000" b="1" dirty="0">
                <a:ea typeface="맑은 고딕"/>
              </a:rPr>
              <a:t>시스템</a:t>
            </a:r>
            <a:r>
              <a:rPr lang="ko-KR" altLang="en-US" sz="2000" dirty="0">
                <a:ea typeface="맑은 고딕"/>
              </a:rPr>
              <a:t>을 </a:t>
            </a:r>
            <a:r>
              <a:rPr lang="ko-KR" altLang="en-US" sz="2000" b="1" dirty="0">
                <a:ea typeface="맑은 고딕"/>
              </a:rPr>
              <a:t>개발</a:t>
            </a:r>
            <a:r>
              <a:rPr lang="ko-KR" altLang="en-US" sz="2000" dirty="0">
                <a:ea typeface="맑은 고딕"/>
              </a:rPr>
              <a:t>하기로 함 </a:t>
            </a:r>
          </a:p>
        </p:txBody>
      </p:sp>
    </p:spTree>
    <p:extLst>
      <p:ext uri="{BB962C8B-B14F-4D97-AF65-F5344CB8AC3E}">
        <p14:creationId xmlns:p14="http://schemas.microsoft.com/office/powerpoint/2010/main" val="29627992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AA774B-A984-6F4F-E41D-CC191E2D3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BEF807-4686-D235-3199-78F929B4F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ea typeface="맑은 고딕"/>
              </a:rPr>
              <a:t>3. 본론 - 전체적인 아키텍처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C107159-DF4E-4F8B-688B-C2963FF2A5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 dirty="0">
                <a:ea typeface="맑은 고딕"/>
              </a:rPr>
              <a:t>아키텍처 그림 넣을 예정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1B1342C-6846-444D-AC94-856B24511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BAD3670-7AEE-448E-1EE5-8E3865BB04A0}"/>
              </a:ext>
            </a:extLst>
          </p:cNvPr>
          <p:cNvSpPr/>
          <p:nvPr/>
        </p:nvSpPr>
        <p:spPr>
          <a:xfrm>
            <a:off x="3266" y="6653711"/>
            <a:ext cx="12186556" cy="203199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47597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A9F284-0CA9-96D1-0244-160212C97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ea typeface="맑은 고딕"/>
              </a:rPr>
              <a:t>3. 본론 - 데이터 설명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649233-15C9-F227-C44D-A4F2EA2F9A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**</a:t>
            </a:r>
            <a:r>
              <a:rPr lang="ko-KR" dirty="0" err="1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기확보</a:t>
            </a:r>
            <a:r>
              <a:rPr lang="ko-KR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 데이터셋 </a:t>
            </a:r>
            <a:r>
              <a:rPr lang="ko-KR" altLang="en-US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목록 </a:t>
            </a:r>
            <a:r>
              <a:rPr lang="ko-KR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(11개 파일)**</a:t>
            </a:r>
          </a:p>
          <a:p>
            <a:r>
              <a:rPr lang="ko-KR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 **1. </a:t>
            </a:r>
            <a:r>
              <a:rPr lang="ko-KR" dirty="0" err="1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Base</a:t>
            </a:r>
            <a:r>
              <a:rPr lang="ko-KR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 </a:t>
            </a:r>
            <a:r>
              <a:rPr lang="ko-KR" dirty="0" err="1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Layer</a:t>
            </a:r>
            <a:r>
              <a:rPr lang="ko-KR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 — 점포 위치 및 센서스**</a:t>
            </a:r>
          </a:p>
          <a:p>
            <a:r>
              <a:rPr lang="ko-KR" altLang="en-US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* **</a:t>
            </a:r>
            <a:r>
              <a:rPr lang="en-US" altLang="ko-KR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2.</a:t>
            </a:r>
            <a:r>
              <a:rPr lang="ko-KR" altLang="en-US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 </a:t>
            </a:r>
            <a:r>
              <a:rPr lang="en-US" altLang="ko-KR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Decline</a:t>
            </a:r>
            <a:r>
              <a:rPr lang="ko-KR" altLang="en-US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 </a:t>
            </a:r>
            <a:r>
              <a:rPr lang="en-US" altLang="ko-KR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/</a:t>
            </a:r>
            <a:r>
              <a:rPr lang="ko-KR" altLang="en-US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 </a:t>
            </a:r>
            <a:r>
              <a:rPr lang="en-US" altLang="ko-KR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Survival</a:t>
            </a:r>
            <a:r>
              <a:rPr lang="ko-KR" altLang="en-US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 </a:t>
            </a:r>
            <a:r>
              <a:rPr lang="en-US" altLang="ko-KR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Signal</a:t>
            </a:r>
            <a:r>
              <a:rPr lang="ko-KR" altLang="en-US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 </a:t>
            </a:r>
            <a:r>
              <a:rPr lang="en-US" altLang="ko-KR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—</a:t>
            </a:r>
            <a:r>
              <a:rPr lang="ko-KR" altLang="en-US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 핵심 타깃 데이터**</a:t>
            </a:r>
          </a:p>
          <a:p>
            <a:r>
              <a:rPr lang="ko-KR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* **3. </a:t>
            </a:r>
            <a:r>
              <a:rPr lang="ko-KR" dirty="0" err="1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Economic</a:t>
            </a:r>
            <a:r>
              <a:rPr lang="ko-KR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 </a:t>
            </a:r>
            <a:r>
              <a:rPr lang="ko-KR" dirty="0" err="1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Activity</a:t>
            </a:r>
            <a:r>
              <a:rPr lang="ko-KR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 &amp; </a:t>
            </a:r>
            <a:r>
              <a:rPr lang="ko-KR" dirty="0" err="1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Sales</a:t>
            </a:r>
            <a:r>
              <a:rPr lang="ko-KR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 </a:t>
            </a:r>
            <a:r>
              <a:rPr lang="ko-KR" dirty="0" err="1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Trend</a:t>
            </a:r>
            <a:r>
              <a:rPr lang="ko-KR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 — 경제 활성도 및 매출 추이**</a:t>
            </a:r>
          </a:p>
          <a:p>
            <a:r>
              <a:rPr lang="ko-KR" altLang="en-US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* **</a:t>
            </a:r>
            <a:r>
              <a:rPr lang="en-US" altLang="ko-KR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4.</a:t>
            </a:r>
            <a:r>
              <a:rPr lang="ko-KR" altLang="en-US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 </a:t>
            </a:r>
            <a:r>
              <a:rPr lang="en-US" altLang="ko-KR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Foot</a:t>
            </a:r>
            <a:r>
              <a:rPr lang="ko-KR" altLang="en-US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 </a:t>
            </a:r>
            <a:r>
              <a:rPr lang="en-US" altLang="ko-KR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Traffic</a:t>
            </a:r>
            <a:r>
              <a:rPr lang="ko-KR" altLang="en-US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 </a:t>
            </a:r>
            <a:r>
              <a:rPr lang="en-US" altLang="ko-KR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—</a:t>
            </a:r>
            <a:r>
              <a:rPr lang="ko-KR" altLang="en-US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 유동인구**</a:t>
            </a:r>
          </a:p>
          <a:p>
            <a:r>
              <a:rPr lang="ko-KR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**미확보 / 추가 필요 데이터**</a:t>
            </a:r>
            <a:endParaRPr lang="ko-KR" altLang="en-US" dirty="0">
              <a:solidFill>
                <a:srgbClr val="222222"/>
              </a:solidFill>
              <a:highlight>
                <a:srgbClr val="FFFFFF"/>
              </a:highlight>
              <a:latin typeface="Arial"/>
              <a:ea typeface="맑은 고딕"/>
              <a:cs typeface="Arial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EE37186-C982-3A61-0645-6E7D73F44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96F41B1-A23F-7F5D-25E2-588846187663}"/>
              </a:ext>
            </a:extLst>
          </p:cNvPr>
          <p:cNvSpPr/>
          <p:nvPr/>
        </p:nvSpPr>
        <p:spPr>
          <a:xfrm>
            <a:off x="3266" y="6653711"/>
            <a:ext cx="12186556" cy="203199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2613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D1A96-8EC5-5A3B-C7B6-540EE25E7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9BF4B8-5831-6E40-301E-D9657AD9C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ea typeface="맑은 고딕"/>
              </a:rPr>
              <a:t>3. 본론 - 데이터 설명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15051CC-90F8-F156-114E-265D6D883F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ko-KR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 **1. </a:t>
            </a:r>
            <a:r>
              <a:rPr lang="ko-KR" dirty="0" err="1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Base</a:t>
            </a:r>
            <a:r>
              <a:rPr lang="ko-KR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 </a:t>
            </a:r>
            <a:r>
              <a:rPr lang="ko-KR" dirty="0" err="1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Layer</a:t>
            </a:r>
            <a:r>
              <a:rPr lang="ko-KR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 — 점포 위치 및 센서스**</a:t>
            </a:r>
          </a:p>
          <a:p>
            <a:r>
              <a:rPr lang="ko-KR" altLang="en-US" dirty="0">
                <a:solidFill>
                  <a:srgbClr val="222222"/>
                </a:solidFill>
                <a:highlight>
                  <a:srgbClr val="FFFFFF"/>
                </a:highlight>
                <a:ea typeface="+mn-lt"/>
                <a:cs typeface="+mn-lt"/>
              </a:rPr>
              <a:t>* </a:t>
            </a:r>
            <a:r>
              <a:rPr lang="en-US" altLang="ko-KR" dirty="0">
                <a:solidFill>
                  <a:srgbClr val="222222"/>
                </a:solidFill>
                <a:highlight>
                  <a:srgbClr val="FFFFFF"/>
                </a:highlight>
                <a:ea typeface="+mn-lt"/>
                <a:cs typeface="+mn-lt"/>
              </a:rPr>
              <a:t>`</a:t>
            </a:r>
            <a:r>
              <a:rPr lang="ko-KR" altLang="en-US" dirty="0" err="1">
                <a:solidFill>
                  <a:srgbClr val="222222"/>
                </a:solidFill>
                <a:highlight>
                  <a:srgbClr val="FFFFFF"/>
                </a:highlight>
                <a:ea typeface="+mn-lt"/>
                <a:cs typeface="+mn-lt"/>
              </a:rPr>
              <a:t>대전상권데이터</a:t>
            </a:r>
            <a:r>
              <a:rPr lang="en-US" altLang="ko-KR" dirty="0" err="1">
                <a:solidFill>
                  <a:srgbClr val="222222"/>
                </a:solidFill>
                <a:highlight>
                  <a:srgbClr val="FFFFFF"/>
                </a:highlight>
                <a:ea typeface="+mn-lt"/>
                <a:cs typeface="+mn-lt"/>
              </a:rPr>
              <a:t>_</a:t>
            </a:r>
            <a:r>
              <a:rPr lang="ko-KR" altLang="en-US" dirty="0" err="1">
                <a:solidFill>
                  <a:srgbClr val="222222"/>
                </a:solidFill>
                <a:highlight>
                  <a:srgbClr val="FFFFFF"/>
                </a:highlight>
                <a:ea typeface="+mn-lt"/>
                <a:cs typeface="+mn-lt"/>
              </a:rPr>
              <a:t>수정본</a:t>
            </a:r>
            <a:r>
              <a:rPr lang="en-US" altLang="ko-KR" dirty="0" err="1">
                <a:solidFill>
                  <a:srgbClr val="222222"/>
                </a:solidFill>
                <a:highlight>
                  <a:srgbClr val="FFFFFF"/>
                </a:highlight>
                <a:ea typeface="+mn-lt"/>
                <a:cs typeface="+mn-lt"/>
              </a:rPr>
              <a:t>.csv</a:t>
            </a:r>
            <a:r>
              <a:rPr lang="en-US" altLang="ko-KR" dirty="0">
                <a:solidFill>
                  <a:srgbClr val="222222"/>
                </a:solidFill>
                <a:highlight>
                  <a:srgbClr val="FFFFFF"/>
                </a:highlight>
                <a:ea typeface="+mn-lt"/>
                <a:cs typeface="+mn-lt"/>
              </a:rPr>
              <a:t>`:</a:t>
            </a:r>
            <a:r>
              <a:rPr lang="ko-KR" altLang="en-US" dirty="0">
                <a:solidFill>
                  <a:srgbClr val="222222"/>
                </a:solidFill>
                <a:highlight>
                  <a:srgbClr val="FFFFFF"/>
                </a:highlight>
                <a:ea typeface="+mn-lt"/>
                <a:cs typeface="+mn-lt"/>
              </a:rPr>
              <a:t> 대전 전체 상가업소 </a:t>
            </a:r>
            <a:r>
              <a:rPr lang="en-US" altLang="ko-KR" dirty="0">
                <a:solidFill>
                  <a:srgbClr val="222222"/>
                </a:solidFill>
                <a:highlight>
                  <a:srgbClr val="FFFFFF"/>
                </a:highlight>
                <a:ea typeface="+mn-lt"/>
                <a:cs typeface="+mn-lt"/>
              </a:rPr>
              <a:t>80,704</a:t>
            </a:r>
            <a:r>
              <a:rPr lang="ko-KR" altLang="en-US" dirty="0">
                <a:solidFill>
                  <a:srgbClr val="222222"/>
                </a:solidFill>
                <a:highlight>
                  <a:srgbClr val="FFFFFF"/>
                </a:highlight>
                <a:ea typeface="+mn-lt"/>
                <a:cs typeface="+mn-lt"/>
              </a:rPr>
              <a:t>건 </a:t>
            </a:r>
            <a:r>
              <a:rPr lang="en-US" altLang="ko-KR" dirty="0">
                <a:solidFill>
                  <a:srgbClr val="222222"/>
                </a:solidFill>
                <a:highlight>
                  <a:srgbClr val="FFFFFF"/>
                </a:highlight>
                <a:ea typeface="+mn-lt"/>
                <a:cs typeface="+mn-lt"/>
              </a:rPr>
              <a:t>(</a:t>
            </a:r>
            <a:r>
              <a:rPr lang="ko-KR" altLang="en-US" dirty="0">
                <a:solidFill>
                  <a:srgbClr val="222222"/>
                </a:solidFill>
                <a:highlight>
                  <a:srgbClr val="FFFFFF"/>
                </a:highlight>
                <a:ea typeface="+mn-lt"/>
                <a:cs typeface="+mn-lt"/>
              </a:rPr>
              <a:t>업종</a:t>
            </a:r>
            <a:r>
              <a:rPr lang="en-US" altLang="ko-KR" dirty="0">
                <a:solidFill>
                  <a:srgbClr val="222222"/>
                </a:solidFill>
                <a:highlight>
                  <a:srgbClr val="FFFFFF"/>
                </a:highlight>
                <a:ea typeface="+mn-lt"/>
                <a:cs typeface="+mn-lt"/>
              </a:rPr>
              <a:t>,</a:t>
            </a:r>
            <a:r>
              <a:rPr lang="ko-KR" altLang="en-US" dirty="0">
                <a:solidFill>
                  <a:srgbClr val="222222"/>
                </a:solidFill>
                <a:highlight>
                  <a:srgbClr val="FFFFFF"/>
                </a:highlight>
                <a:ea typeface="+mn-lt"/>
                <a:cs typeface="+mn-lt"/>
              </a:rPr>
              <a:t> 도로명</a:t>
            </a:r>
            <a:r>
              <a:rPr lang="en-US" altLang="ko-KR" dirty="0">
                <a:solidFill>
                  <a:srgbClr val="222222"/>
                </a:solidFill>
                <a:highlight>
                  <a:srgbClr val="FFFFFF"/>
                </a:highlight>
                <a:ea typeface="+mn-lt"/>
                <a:cs typeface="+mn-lt"/>
              </a:rPr>
              <a:t>/</a:t>
            </a:r>
            <a:r>
              <a:rPr lang="ko-KR" altLang="en-US" dirty="0">
                <a:solidFill>
                  <a:srgbClr val="222222"/>
                </a:solidFill>
                <a:highlight>
                  <a:srgbClr val="FFFFFF"/>
                </a:highlight>
                <a:ea typeface="+mn-lt"/>
                <a:cs typeface="+mn-lt"/>
              </a:rPr>
              <a:t>지번 주소</a:t>
            </a:r>
            <a:r>
              <a:rPr lang="en-US" altLang="ko-KR" dirty="0">
                <a:solidFill>
                  <a:srgbClr val="222222"/>
                </a:solidFill>
                <a:highlight>
                  <a:srgbClr val="FFFFFF"/>
                </a:highlight>
                <a:ea typeface="+mn-lt"/>
                <a:cs typeface="+mn-lt"/>
              </a:rPr>
              <a:t>,</a:t>
            </a:r>
            <a:r>
              <a:rPr lang="ko-KR" altLang="en-US" dirty="0">
                <a:solidFill>
                  <a:srgbClr val="222222"/>
                </a:solidFill>
                <a:highlight>
                  <a:srgbClr val="FFFFFF"/>
                </a:highlight>
                <a:ea typeface="+mn-lt"/>
                <a:cs typeface="+mn-lt"/>
              </a:rPr>
              <a:t> 좌표 정보 포함</a:t>
            </a:r>
            <a:r>
              <a:rPr lang="en-US" altLang="ko-KR" dirty="0">
                <a:solidFill>
                  <a:srgbClr val="222222"/>
                </a:solidFill>
                <a:highlight>
                  <a:srgbClr val="FFFFFF"/>
                </a:highlight>
                <a:ea typeface="+mn-lt"/>
                <a:cs typeface="+mn-lt"/>
              </a:rPr>
              <a:t>;</a:t>
            </a:r>
            <a:r>
              <a:rPr lang="ko-KR" altLang="en-US" dirty="0">
                <a:solidFill>
                  <a:srgbClr val="222222"/>
                </a:solidFill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altLang="ko-KR" dirty="0">
                <a:solidFill>
                  <a:srgbClr val="222222"/>
                </a:solidFill>
                <a:highlight>
                  <a:srgbClr val="FFFFFF"/>
                </a:highlight>
                <a:ea typeface="+mn-lt"/>
                <a:cs typeface="+mn-lt"/>
              </a:rPr>
              <a:t>~2026-06</a:t>
            </a:r>
            <a:r>
              <a:rPr lang="ko-KR" altLang="en-US" dirty="0">
                <a:solidFill>
                  <a:srgbClr val="222222"/>
                </a:solidFill>
                <a:highlight>
                  <a:srgbClr val="FFFFFF"/>
                </a:highlight>
                <a:ea typeface="+mn-lt"/>
                <a:cs typeface="+mn-lt"/>
              </a:rPr>
              <a:t> 최신 스냅샷 기준</a:t>
            </a:r>
            <a:r>
              <a:rPr lang="en-US" altLang="ko-KR" dirty="0">
                <a:solidFill>
                  <a:srgbClr val="222222"/>
                </a:solidFill>
                <a:highlight>
                  <a:srgbClr val="FFFFFF"/>
                </a:highlight>
                <a:ea typeface="+mn-lt"/>
                <a:cs typeface="+mn-lt"/>
              </a:rPr>
              <a:t>).</a:t>
            </a:r>
            <a:endParaRPr lang="ko-KR" altLang="en-US" dirty="0">
              <a:solidFill>
                <a:srgbClr val="222222"/>
              </a:solidFill>
              <a:highlight>
                <a:srgbClr val="FFFFFF"/>
              </a:highlight>
              <a:latin typeface="Arial"/>
              <a:ea typeface="맑은 고딕"/>
              <a:cs typeface="Arial"/>
            </a:endParaRPr>
          </a:p>
          <a:p>
            <a:br>
              <a:rPr lang="en-US" altLang="ko-KR" dirty="0"/>
            </a:br>
            <a:endParaRPr lang="en-US" altLang="ko-KR" dirty="0"/>
          </a:p>
          <a:p>
            <a:endParaRPr lang="ko-KR" dirty="0">
              <a:solidFill>
                <a:srgbClr val="222222"/>
              </a:solidFill>
              <a:highlight>
                <a:srgbClr val="FFFFFF"/>
              </a:highlight>
              <a:latin typeface="Arial"/>
              <a:ea typeface="맑은 고딕"/>
              <a:cs typeface="Arial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F706C89-21CC-B781-E55E-5E088C9FB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52D86E1-8312-728C-0799-516AD08516B9}"/>
              </a:ext>
            </a:extLst>
          </p:cNvPr>
          <p:cNvSpPr/>
          <p:nvPr/>
        </p:nvSpPr>
        <p:spPr>
          <a:xfrm>
            <a:off x="3266" y="6653711"/>
            <a:ext cx="12186556" cy="203199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85848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F8AF3-72F4-FFB7-BC0F-1FD85E40A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8A8EC2-3A90-C579-74F4-E5864B662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ea typeface="맑은 고딕"/>
              </a:rPr>
              <a:t>3. 본론 - 데이터 설명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36862DF-99E0-0371-DB08-C6AC5A03A5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62500" lnSpcReduction="20000"/>
          </a:bodyPr>
          <a:lstStyle/>
          <a:p>
            <a:r>
              <a:rPr lang="ko-KR" altLang="en-US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* **</a:t>
            </a:r>
            <a:r>
              <a:rPr lang="en-US" altLang="ko-KR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2.</a:t>
            </a:r>
            <a:r>
              <a:rPr lang="ko-KR" altLang="en-US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 </a:t>
            </a:r>
            <a:r>
              <a:rPr lang="en-US" altLang="ko-KR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Decline</a:t>
            </a:r>
            <a:r>
              <a:rPr lang="ko-KR" altLang="en-US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 </a:t>
            </a:r>
            <a:r>
              <a:rPr lang="en-US" altLang="ko-KR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/</a:t>
            </a:r>
            <a:r>
              <a:rPr lang="ko-KR" altLang="en-US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 </a:t>
            </a:r>
            <a:r>
              <a:rPr lang="en-US" altLang="ko-KR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Survival</a:t>
            </a:r>
            <a:r>
              <a:rPr lang="ko-KR" altLang="en-US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 </a:t>
            </a:r>
            <a:r>
              <a:rPr lang="en-US" altLang="ko-KR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Signal</a:t>
            </a:r>
            <a:r>
              <a:rPr lang="ko-KR" altLang="en-US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 </a:t>
            </a:r>
            <a:r>
              <a:rPr lang="en-US" altLang="ko-KR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—</a:t>
            </a:r>
            <a:r>
              <a:rPr lang="ko-KR" altLang="en-US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 핵심 타깃 데이터**</a:t>
            </a:r>
          </a:p>
          <a:p>
            <a:pPr>
              <a:lnSpc>
                <a:spcPct val="120000"/>
              </a:lnSpc>
            </a:pPr>
            <a:r>
              <a:rPr lang="ko-KR" sz="2900" dirty="0">
                <a:solidFill>
                  <a:srgbClr val="222222"/>
                </a:solidFill>
                <a:highlight>
                  <a:srgbClr val="FFFFFF"/>
                </a:highlight>
                <a:ea typeface="+mn-lt"/>
                <a:cs typeface="+mn-lt"/>
              </a:rPr>
              <a:t>* `국세청_사업자현황_100대 생활업종_20260630.csv`: </a:t>
            </a:r>
            <a:r>
              <a:rPr lang="ko-KR" sz="2900" dirty="0" err="1">
                <a:solidFill>
                  <a:srgbClr val="222222"/>
                </a:solidFill>
                <a:highlight>
                  <a:srgbClr val="FFFFFF"/>
                </a:highlight>
                <a:ea typeface="+mn-lt"/>
                <a:cs typeface="+mn-lt"/>
              </a:rPr>
              <a:t>자치구×업종별</a:t>
            </a:r>
            <a:r>
              <a:rPr lang="ko-KR" sz="2900" dirty="0">
                <a:solidFill>
                  <a:srgbClr val="222222"/>
                </a:solidFill>
                <a:highlight>
                  <a:srgbClr val="FFFFFF"/>
                </a:highlight>
                <a:ea typeface="+mn-lt"/>
                <a:cs typeface="+mn-lt"/>
              </a:rPr>
              <a:t> 활성 사업자 수 (당월/전월/전년동월 대비 증감 포함).</a:t>
            </a:r>
            <a:endParaRPr lang="ko-KR" altLang="en-US" sz="2900">
              <a:solidFill>
                <a:srgbClr val="222222"/>
              </a:solidFill>
              <a:highlight>
                <a:srgbClr val="FFFFFF"/>
              </a:highlight>
              <a:latin typeface="Arial"/>
              <a:ea typeface="맑은 고딕"/>
              <a:cs typeface="Arial"/>
            </a:endParaRPr>
          </a:p>
          <a:p>
            <a:pPr>
              <a:lnSpc>
                <a:spcPct val="120000"/>
              </a:lnSpc>
            </a:pPr>
            <a:r>
              <a:rPr lang="ko-KR" sz="2900" dirty="0">
                <a:solidFill>
                  <a:srgbClr val="222222"/>
                </a:solidFill>
                <a:highlight>
                  <a:srgbClr val="FFFFFF"/>
                </a:highlight>
                <a:ea typeface="+mn-lt"/>
                <a:cs typeface="+mn-lt"/>
              </a:rPr>
              <a:t>* `</a:t>
            </a:r>
            <a:r>
              <a:rPr lang="ko-KR" sz="2900" dirty="0" err="1">
                <a:solidFill>
                  <a:srgbClr val="222222"/>
                </a:solidFill>
                <a:highlight>
                  <a:srgbClr val="FFFFFF"/>
                </a:highlight>
                <a:ea typeface="+mn-lt"/>
                <a:cs typeface="+mn-lt"/>
              </a:rPr>
              <a:t>대전광역시_소상공인</a:t>
            </a:r>
            <a:r>
              <a:rPr lang="ko-KR" sz="2900" dirty="0">
                <a:solidFill>
                  <a:srgbClr val="222222"/>
                </a:solidFill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ko-KR" sz="2900" dirty="0" err="1">
                <a:solidFill>
                  <a:srgbClr val="222222"/>
                </a:solidFill>
                <a:highlight>
                  <a:srgbClr val="FFFFFF"/>
                </a:highlight>
                <a:ea typeface="+mn-lt"/>
                <a:cs typeface="+mn-lt"/>
              </a:rPr>
              <a:t>업종별_생존율_폐업율</a:t>
            </a:r>
            <a:r>
              <a:rPr lang="ko-KR" sz="2900" dirty="0">
                <a:solidFill>
                  <a:srgbClr val="222222"/>
                </a:solidFill>
                <a:highlight>
                  <a:srgbClr val="FFFFFF"/>
                </a:highlight>
                <a:ea typeface="+mn-lt"/>
                <a:cs typeface="+mn-lt"/>
              </a:rPr>
              <a:t> 현황_20220930.csv`: </a:t>
            </a:r>
            <a:r>
              <a:rPr lang="ko-KR" sz="2900" dirty="0" err="1">
                <a:solidFill>
                  <a:srgbClr val="222222"/>
                </a:solidFill>
                <a:highlight>
                  <a:srgbClr val="FFFFFF"/>
                </a:highlight>
                <a:ea typeface="+mn-lt"/>
                <a:cs typeface="+mn-lt"/>
              </a:rPr>
              <a:t>자치구×업종별</a:t>
            </a:r>
            <a:r>
              <a:rPr lang="ko-KR" sz="2900" dirty="0">
                <a:solidFill>
                  <a:srgbClr val="222222"/>
                </a:solidFill>
                <a:highlight>
                  <a:srgbClr val="FFFFFF"/>
                </a:highlight>
                <a:ea typeface="+mn-lt"/>
                <a:cs typeface="+mn-lt"/>
              </a:rPr>
              <a:t> 생존율 및 </a:t>
            </a:r>
            <a:r>
              <a:rPr lang="ko-KR" sz="2900" dirty="0" err="1">
                <a:solidFill>
                  <a:srgbClr val="222222"/>
                </a:solidFill>
                <a:highlight>
                  <a:srgbClr val="FFFFFF"/>
                </a:highlight>
                <a:ea typeface="+mn-lt"/>
                <a:cs typeface="+mn-lt"/>
              </a:rPr>
              <a:t>폐업율</a:t>
            </a:r>
            <a:r>
              <a:rPr lang="ko-KR" sz="2900" dirty="0">
                <a:solidFill>
                  <a:srgbClr val="222222"/>
                </a:solidFill>
                <a:highlight>
                  <a:srgbClr val="FFFFFF"/>
                </a:highlight>
                <a:ea typeface="+mn-lt"/>
                <a:cs typeface="+mn-lt"/>
              </a:rPr>
              <a:t> (2020년 코호트 대상 → 2022년 9월 기준 추적).</a:t>
            </a:r>
            <a:endParaRPr lang="ko-KR" sz="2900">
              <a:ea typeface="맑은 고딕"/>
            </a:endParaRPr>
          </a:p>
          <a:p>
            <a:pPr>
              <a:lnSpc>
                <a:spcPct val="120000"/>
              </a:lnSpc>
            </a:pPr>
            <a:r>
              <a:rPr lang="ko-KR" sz="2900" dirty="0">
                <a:solidFill>
                  <a:srgbClr val="222222"/>
                </a:solidFill>
                <a:highlight>
                  <a:srgbClr val="FFFFFF"/>
                </a:highlight>
                <a:ea typeface="+mn-lt"/>
                <a:cs typeface="+mn-lt"/>
              </a:rPr>
              <a:t>* `</a:t>
            </a:r>
            <a:r>
              <a:rPr lang="ko-KR" sz="2900" err="1">
                <a:solidFill>
                  <a:srgbClr val="222222"/>
                </a:solidFill>
                <a:highlight>
                  <a:srgbClr val="FFFFFF"/>
                </a:highlight>
                <a:ea typeface="+mn-lt"/>
                <a:cs typeface="+mn-lt"/>
              </a:rPr>
              <a:t>대전광역시_소상공인</a:t>
            </a:r>
            <a:r>
              <a:rPr lang="ko-KR" sz="2900" dirty="0">
                <a:solidFill>
                  <a:srgbClr val="222222"/>
                </a:solidFill>
                <a:highlight>
                  <a:srgbClr val="FFFFFF"/>
                </a:highlight>
                <a:ea typeface="+mn-lt"/>
                <a:cs typeface="+mn-lt"/>
              </a:rPr>
              <a:t> 기간별 </a:t>
            </a:r>
            <a:r>
              <a:rPr lang="ko-KR" sz="2900" err="1">
                <a:solidFill>
                  <a:srgbClr val="222222"/>
                </a:solidFill>
                <a:highlight>
                  <a:srgbClr val="FFFFFF"/>
                </a:highlight>
                <a:ea typeface="+mn-lt"/>
                <a:cs typeface="+mn-lt"/>
              </a:rPr>
              <a:t>생존율_폐업율</a:t>
            </a:r>
            <a:r>
              <a:rPr lang="ko-KR" sz="2900" dirty="0">
                <a:solidFill>
                  <a:srgbClr val="222222"/>
                </a:solidFill>
                <a:highlight>
                  <a:srgbClr val="FFFFFF"/>
                </a:highlight>
                <a:ea typeface="+mn-lt"/>
                <a:cs typeface="+mn-lt"/>
              </a:rPr>
              <a:t> 현황_20220930.csv`: </a:t>
            </a:r>
            <a:r>
              <a:rPr lang="ko-KR" sz="2900" err="1">
                <a:solidFill>
                  <a:srgbClr val="222222"/>
                </a:solidFill>
                <a:highlight>
                  <a:srgbClr val="FFFFFF"/>
                </a:highlight>
                <a:ea typeface="+mn-lt"/>
                <a:cs typeface="+mn-lt"/>
              </a:rPr>
              <a:t>개업연월</a:t>
            </a:r>
            <a:r>
              <a:rPr lang="ko-KR" sz="2900" dirty="0">
                <a:solidFill>
                  <a:srgbClr val="222222"/>
                </a:solidFill>
                <a:highlight>
                  <a:srgbClr val="FFFFFF"/>
                </a:highlight>
                <a:ea typeface="+mn-lt"/>
                <a:cs typeface="+mn-lt"/>
              </a:rPr>
              <a:t> 경과기간별 생존율 (대전 전체 연령별 생존 곡선 데이터).</a:t>
            </a:r>
            <a:endParaRPr lang="ko-KR" sz="2900">
              <a:ea typeface="맑은 고딕"/>
            </a:endParaRPr>
          </a:p>
          <a:p>
            <a:pPr>
              <a:lnSpc>
                <a:spcPct val="120000"/>
              </a:lnSpc>
            </a:pPr>
            <a:r>
              <a:rPr lang="ko-KR" sz="2900" dirty="0">
                <a:solidFill>
                  <a:srgbClr val="222222"/>
                </a:solidFill>
                <a:highlight>
                  <a:srgbClr val="FFFFFF"/>
                </a:highlight>
                <a:ea typeface="+mn-lt"/>
                <a:cs typeface="+mn-lt"/>
              </a:rPr>
              <a:t>* `9-8-25...</a:t>
            </a:r>
            <a:r>
              <a:rPr lang="ko-KR" sz="2900" err="1">
                <a:solidFill>
                  <a:srgbClr val="222222"/>
                </a:solidFill>
                <a:highlight>
                  <a:srgbClr val="FFFFFF"/>
                </a:highlight>
                <a:ea typeface="+mn-lt"/>
                <a:cs typeface="+mn-lt"/>
              </a:rPr>
              <a:t>Ⅰ</a:t>
            </a:r>
            <a:r>
              <a:rPr lang="ko-KR" sz="2900" dirty="0">
                <a:solidFill>
                  <a:srgbClr val="222222"/>
                </a:solidFill>
                <a:highlight>
                  <a:srgbClr val="FFFFFF"/>
                </a:highlight>
                <a:ea typeface="+mn-lt"/>
                <a:cs typeface="+mn-lt"/>
              </a:rPr>
              <a:t>(</a:t>
            </a:r>
            <a:r>
              <a:rPr lang="ko-KR" sz="2900" err="1">
                <a:solidFill>
                  <a:srgbClr val="222222"/>
                </a:solidFill>
                <a:highlight>
                  <a:srgbClr val="FFFFFF"/>
                </a:highlight>
                <a:ea typeface="+mn-lt"/>
                <a:cs typeface="+mn-lt"/>
              </a:rPr>
              <a:t>지역,_업종</a:t>
            </a:r>
            <a:r>
              <a:rPr lang="ko-KR" sz="2900" dirty="0">
                <a:solidFill>
                  <a:srgbClr val="222222"/>
                </a:solidFill>
                <a:highlight>
                  <a:srgbClr val="FFFFFF"/>
                </a:highlight>
                <a:ea typeface="+mn-lt"/>
                <a:cs typeface="+mn-lt"/>
              </a:rPr>
              <a:t>)...</a:t>
            </a:r>
            <a:r>
              <a:rPr lang="ko-KR" sz="2900" err="1">
                <a:solidFill>
                  <a:srgbClr val="222222"/>
                </a:solidFill>
                <a:highlight>
                  <a:srgbClr val="FFFFFF"/>
                </a:highlight>
                <a:ea typeface="+mn-lt"/>
                <a:cs typeface="+mn-lt"/>
              </a:rPr>
              <a:t>xlsx</a:t>
            </a:r>
            <a:r>
              <a:rPr lang="ko-KR" sz="2900" dirty="0">
                <a:solidFill>
                  <a:srgbClr val="222222"/>
                </a:solidFill>
                <a:highlight>
                  <a:srgbClr val="FFFFFF"/>
                </a:highlight>
                <a:ea typeface="+mn-lt"/>
                <a:cs typeface="+mn-lt"/>
              </a:rPr>
              <a:t>`: 2025년 지역(</a:t>
            </a:r>
            <a:r>
              <a:rPr lang="ko-KR" sz="2900" err="1">
                <a:solidFill>
                  <a:srgbClr val="222222"/>
                </a:solidFill>
                <a:highlight>
                  <a:srgbClr val="FFFFFF"/>
                </a:highlight>
                <a:ea typeface="+mn-lt"/>
                <a:cs typeface="+mn-lt"/>
              </a:rPr>
              <a:t>시·도</a:t>
            </a:r>
            <a:r>
              <a:rPr lang="ko-KR" sz="2900" dirty="0">
                <a:solidFill>
                  <a:srgbClr val="222222"/>
                </a:solidFill>
                <a:highlight>
                  <a:srgbClr val="FFFFFF"/>
                </a:highlight>
                <a:ea typeface="+mn-lt"/>
                <a:cs typeface="+mn-lt"/>
              </a:rPr>
              <a:t>)×업종별 신규 사업자 수 (참고용; 대전 </a:t>
            </a:r>
            <a:r>
              <a:rPr lang="ko-KR" sz="2900" err="1">
                <a:solidFill>
                  <a:srgbClr val="222222"/>
                </a:solidFill>
                <a:highlight>
                  <a:srgbClr val="FFFFFF"/>
                </a:highlight>
                <a:ea typeface="+mn-lt"/>
                <a:cs typeface="+mn-lt"/>
              </a:rPr>
              <a:t>시·도</a:t>
            </a:r>
            <a:r>
              <a:rPr lang="ko-KR" sz="2900" dirty="0">
                <a:solidFill>
                  <a:srgbClr val="222222"/>
                </a:solidFill>
                <a:highlight>
                  <a:srgbClr val="FFFFFF"/>
                </a:highlight>
                <a:ea typeface="+mn-lt"/>
                <a:cs typeface="+mn-lt"/>
              </a:rPr>
              <a:t> 단위).</a:t>
            </a:r>
            <a:endParaRPr lang="ko-KR" sz="2900">
              <a:ea typeface="맑은 고딕"/>
            </a:endParaRPr>
          </a:p>
          <a:p>
            <a:pPr>
              <a:lnSpc>
                <a:spcPct val="120000"/>
              </a:lnSpc>
            </a:pPr>
            <a:r>
              <a:rPr lang="ko-KR" sz="2900" dirty="0">
                <a:solidFill>
                  <a:srgbClr val="222222"/>
                </a:solidFill>
                <a:highlight>
                  <a:srgbClr val="FFFFFF"/>
                </a:highlight>
                <a:ea typeface="+mn-lt"/>
                <a:cs typeface="+mn-lt"/>
              </a:rPr>
              <a:t>* `9-8-26...</a:t>
            </a:r>
            <a:r>
              <a:rPr lang="ko-KR" sz="2900" err="1">
                <a:solidFill>
                  <a:srgbClr val="222222"/>
                </a:solidFill>
                <a:highlight>
                  <a:srgbClr val="FFFFFF"/>
                </a:highlight>
                <a:ea typeface="+mn-lt"/>
                <a:cs typeface="+mn-lt"/>
              </a:rPr>
              <a:t>Ⅱ</a:t>
            </a:r>
            <a:r>
              <a:rPr lang="ko-KR" sz="2900" dirty="0">
                <a:solidFill>
                  <a:srgbClr val="222222"/>
                </a:solidFill>
                <a:highlight>
                  <a:srgbClr val="FFFFFF"/>
                </a:highlight>
                <a:ea typeface="+mn-lt"/>
                <a:cs typeface="+mn-lt"/>
              </a:rPr>
              <a:t>(</a:t>
            </a:r>
            <a:r>
              <a:rPr lang="ko-KR" sz="2900" err="1">
                <a:solidFill>
                  <a:srgbClr val="222222"/>
                </a:solidFill>
                <a:highlight>
                  <a:srgbClr val="FFFFFF"/>
                </a:highlight>
                <a:ea typeface="+mn-lt"/>
                <a:cs typeface="+mn-lt"/>
              </a:rPr>
              <a:t>월,_업종</a:t>
            </a:r>
            <a:r>
              <a:rPr lang="ko-KR" sz="2900" dirty="0">
                <a:solidFill>
                  <a:srgbClr val="222222"/>
                </a:solidFill>
                <a:highlight>
                  <a:srgbClr val="FFFFFF"/>
                </a:highlight>
                <a:ea typeface="+mn-lt"/>
                <a:cs typeface="+mn-lt"/>
              </a:rPr>
              <a:t>)...</a:t>
            </a:r>
            <a:r>
              <a:rPr lang="ko-KR" sz="2900" err="1">
                <a:solidFill>
                  <a:srgbClr val="222222"/>
                </a:solidFill>
                <a:highlight>
                  <a:srgbClr val="FFFFFF"/>
                </a:highlight>
                <a:ea typeface="+mn-lt"/>
                <a:cs typeface="+mn-lt"/>
              </a:rPr>
              <a:t>xlsx</a:t>
            </a:r>
            <a:r>
              <a:rPr lang="ko-KR" sz="2900" dirty="0">
                <a:solidFill>
                  <a:srgbClr val="222222"/>
                </a:solidFill>
                <a:highlight>
                  <a:srgbClr val="FFFFFF"/>
                </a:highlight>
                <a:ea typeface="+mn-lt"/>
                <a:cs typeface="+mn-lt"/>
              </a:rPr>
              <a:t>`: 2024년 전국 </a:t>
            </a:r>
            <a:r>
              <a:rPr lang="ko-KR" sz="2900" err="1">
                <a:solidFill>
                  <a:srgbClr val="222222"/>
                </a:solidFill>
                <a:highlight>
                  <a:srgbClr val="FFFFFF"/>
                </a:highlight>
                <a:ea typeface="+mn-lt"/>
                <a:cs typeface="+mn-lt"/>
              </a:rPr>
              <a:t>월별×업종별</a:t>
            </a:r>
            <a:r>
              <a:rPr lang="ko-KR" sz="2900" dirty="0">
                <a:solidFill>
                  <a:srgbClr val="222222"/>
                </a:solidFill>
                <a:highlight>
                  <a:srgbClr val="FFFFFF"/>
                </a:highlight>
                <a:ea typeface="+mn-lt"/>
                <a:cs typeface="+mn-lt"/>
              </a:rPr>
              <a:t> 신규 사업자 수 (참고용; 지역 구분 없음).</a:t>
            </a:r>
            <a:endParaRPr lang="ko-KR" sz="2900">
              <a:ea typeface="맑은 고딕"/>
            </a:endParaRPr>
          </a:p>
          <a:p>
            <a:pPr>
              <a:lnSpc>
                <a:spcPct val="120000"/>
              </a:lnSpc>
            </a:pPr>
            <a:br>
              <a:rPr lang="en-US" altLang="ko-KR" dirty="0"/>
            </a:br>
            <a:endParaRPr lang="en-US" altLang="ko-KR" dirty="0"/>
          </a:p>
          <a:p>
            <a:endParaRPr lang="ko-KR" altLang="en-US" dirty="0">
              <a:solidFill>
                <a:srgbClr val="222222"/>
              </a:solidFill>
              <a:highlight>
                <a:srgbClr val="FFFFFF"/>
              </a:highlight>
              <a:latin typeface="Arial"/>
              <a:ea typeface="맑은 고딕"/>
              <a:cs typeface="Arial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5229D7F-5101-D49B-3F31-EC9B63397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8CDBBF7-E53A-7E8F-EB04-125F3084677B}"/>
              </a:ext>
            </a:extLst>
          </p:cNvPr>
          <p:cNvSpPr/>
          <p:nvPr/>
        </p:nvSpPr>
        <p:spPr>
          <a:xfrm>
            <a:off x="3266" y="6653711"/>
            <a:ext cx="12186556" cy="203199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38949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EE2BCE-9A38-5937-2D91-BCBB2B380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F4CC87-CB0A-F62B-2073-88072F25C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ea typeface="맑은 고딕"/>
              </a:rPr>
              <a:t>3. 본론 - 데이터 설명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07CFF8D-5F40-8298-9583-CA20FE2B3D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ko-KR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* **3. </a:t>
            </a:r>
            <a:r>
              <a:rPr lang="ko-KR" err="1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Economic</a:t>
            </a:r>
            <a:r>
              <a:rPr lang="ko-KR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 </a:t>
            </a:r>
            <a:r>
              <a:rPr lang="ko-KR" err="1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Activity</a:t>
            </a:r>
            <a:r>
              <a:rPr lang="ko-KR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 &amp; </a:t>
            </a:r>
            <a:r>
              <a:rPr lang="ko-KR" err="1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Sales</a:t>
            </a:r>
            <a:r>
              <a:rPr lang="ko-KR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 </a:t>
            </a:r>
            <a:r>
              <a:rPr lang="ko-KR" err="1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Trend</a:t>
            </a:r>
            <a:r>
              <a:rPr lang="ko-KR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 — 경제 활성도 및 매출 추이**</a:t>
            </a:r>
          </a:p>
          <a:p>
            <a:r>
              <a:rPr lang="ko-KR" altLang="en-US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* </a:t>
            </a:r>
            <a:r>
              <a:rPr lang="en-US" altLang="ko-KR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`</a:t>
            </a:r>
            <a:r>
              <a:rPr lang="ko-KR" altLang="en-US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대전광역시</a:t>
            </a:r>
            <a:r>
              <a:rPr lang="en-US" altLang="ko-KR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_</a:t>
            </a:r>
            <a:r>
              <a:rPr lang="ko-KR" altLang="en-US" dirty="0" err="1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온통대전</a:t>
            </a:r>
            <a:r>
              <a:rPr lang="ko-KR" altLang="en-US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 월별 매출액</a:t>
            </a:r>
            <a:r>
              <a:rPr lang="en-US" altLang="ko-KR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_20210930.csv`:</a:t>
            </a:r>
            <a:r>
              <a:rPr lang="ko-KR" altLang="en-US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 대전 지역화폐</a:t>
            </a:r>
            <a:r>
              <a:rPr lang="en-US" altLang="ko-KR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(</a:t>
            </a:r>
            <a:r>
              <a:rPr lang="ko-KR" altLang="en-US" dirty="0" err="1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온통대전</a:t>
            </a:r>
            <a:r>
              <a:rPr lang="en-US" altLang="ko-KR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)</a:t>
            </a:r>
            <a:r>
              <a:rPr lang="ko-KR" altLang="en-US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 월별 총매출액 </a:t>
            </a:r>
            <a:r>
              <a:rPr lang="en-US" altLang="ko-KR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(2020</a:t>
            </a:r>
            <a:r>
              <a:rPr lang="ko-KR" altLang="en-US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년 </a:t>
            </a:r>
            <a:r>
              <a:rPr lang="en-US" altLang="ko-KR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5</a:t>
            </a:r>
            <a:r>
              <a:rPr lang="ko-KR" altLang="en-US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월부터</a:t>
            </a:r>
            <a:r>
              <a:rPr lang="en-US" altLang="ko-KR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).</a:t>
            </a:r>
            <a:endParaRPr lang="ko-KR" altLang="en-US" dirty="0">
              <a:solidFill>
                <a:srgbClr val="222222"/>
              </a:solidFill>
              <a:highlight>
                <a:srgbClr val="FFFFFF"/>
              </a:highlight>
              <a:latin typeface="Arial"/>
              <a:ea typeface="맑은 고딕"/>
              <a:cs typeface="Arial"/>
            </a:endParaRPr>
          </a:p>
          <a:p>
            <a:r>
              <a:rPr lang="ko-KR" altLang="en-US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* </a:t>
            </a:r>
            <a:r>
              <a:rPr lang="en-US" altLang="ko-KR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`</a:t>
            </a:r>
            <a:r>
              <a:rPr lang="ko-KR" altLang="en-US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대전광역시</a:t>
            </a:r>
            <a:r>
              <a:rPr lang="en-US" altLang="ko-KR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_</a:t>
            </a:r>
            <a:r>
              <a:rPr lang="ko-KR" altLang="en-US" dirty="0" err="1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온통대전</a:t>
            </a:r>
            <a:r>
              <a:rPr lang="ko-KR" altLang="en-US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 월별 업종별 매출액</a:t>
            </a:r>
            <a:r>
              <a:rPr lang="en-US" altLang="ko-KR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_20210930.csv`:</a:t>
            </a:r>
            <a:r>
              <a:rPr lang="ko-KR" altLang="en-US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 지역화폐 업종별 월매출액</a:t>
            </a:r>
            <a:r>
              <a:rPr lang="en-US" altLang="ko-KR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.</a:t>
            </a:r>
            <a:endParaRPr lang="ko-KR" altLang="en-US" dirty="0"/>
          </a:p>
          <a:p>
            <a:r>
              <a:rPr lang="ko-KR" altLang="en-US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* </a:t>
            </a:r>
            <a:r>
              <a:rPr lang="en-US" altLang="ko-KR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`</a:t>
            </a:r>
            <a:r>
              <a:rPr lang="ko-KR" altLang="en-US" dirty="0" err="1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대전광역시</a:t>
            </a:r>
            <a:r>
              <a:rPr lang="en-US" altLang="ko-KR" dirty="0" err="1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_</a:t>
            </a:r>
            <a:r>
              <a:rPr lang="ko-KR" altLang="en-US" dirty="0" err="1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자치구별</a:t>
            </a:r>
            <a:r>
              <a:rPr lang="ko-KR" altLang="en-US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 신용카드</a:t>
            </a:r>
            <a:r>
              <a:rPr lang="en-US" altLang="ko-KR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(</a:t>
            </a:r>
            <a:r>
              <a:rPr lang="en-US" altLang="ko-KR" dirty="0" err="1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KB</a:t>
            </a:r>
            <a:r>
              <a:rPr lang="ko-KR" altLang="en-US" dirty="0" err="1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국민카드</a:t>
            </a:r>
            <a:r>
              <a:rPr lang="en-US" altLang="ko-KR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)</a:t>
            </a:r>
            <a:r>
              <a:rPr lang="ko-KR" altLang="en-US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 매출액</a:t>
            </a:r>
            <a:r>
              <a:rPr lang="en-US" altLang="ko-KR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_20200801.csv`:</a:t>
            </a:r>
            <a:r>
              <a:rPr lang="ko-KR" altLang="en-US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 자치구별 </a:t>
            </a:r>
            <a:r>
              <a:rPr lang="en-US" altLang="ko-KR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KB</a:t>
            </a:r>
            <a:r>
              <a:rPr lang="ko-KR" altLang="en-US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국민카드 월별 매출 증감률 추이</a:t>
            </a:r>
            <a:r>
              <a:rPr lang="en-US" altLang="ko-KR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.</a:t>
            </a:r>
            <a:endParaRPr lang="ko-KR" altLang="en-US" dirty="0"/>
          </a:p>
          <a:p>
            <a:r>
              <a:rPr lang="ko-KR" altLang="en-US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* </a:t>
            </a:r>
            <a:r>
              <a:rPr lang="en-US" altLang="ko-KR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`</a:t>
            </a:r>
            <a:r>
              <a:rPr lang="ko-KR" altLang="en-US" dirty="0" err="1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대전광역시</a:t>
            </a:r>
            <a:r>
              <a:rPr lang="en-US" altLang="ko-KR" dirty="0" err="1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_</a:t>
            </a:r>
            <a:r>
              <a:rPr lang="ko-KR" altLang="en-US" dirty="0" err="1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자치구</a:t>
            </a:r>
            <a:r>
              <a:rPr lang="ko-KR" altLang="en-US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 단위 </a:t>
            </a:r>
            <a:r>
              <a:rPr lang="ko-KR" altLang="en-US" dirty="0" err="1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지역내총생산</a:t>
            </a:r>
            <a:r>
              <a:rPr lang="en-US" altLang="ko-KR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_20191231.pdf`:</a:t>
            </a:r>
            <a:r>
              <a:rPr lang="ko-KR" altLang="en-US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 자치구별 </a:t>
            </a:r>
            <a:r>
              <a:rPr lang="ko-KR" altLang="en-US" dirty="0" err="1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지역내총생산</a:t>
            </a:r>
            <a:r>
              <a:rPr lang="en-US" altLang="ko-KR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(GRDP)</a:t>
            </a:r>
            <a:r>
              <a:rPr lang="ko-KR" altLang="en-US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 연간 거시경제 지표 보고서</a:t>
            </a:r>
            <a:r>
              <a:rPr lang="en-US" altLang="ko-KR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.</a:t>
            </a:r>
            <a:endParaRPr lang="ko-KR" altLang="en-US" dirty="0"/>
          </a:p>
          <a:p>
            <a:endParaRPr lang="ko-KR" dirty="0">
              <a:solidFill>
                <a:srgbClr val="222222"/>
              </a:solidFill>
              <a:highlight>
                <a:srgbClr val="FFFFFF"/>
              </a:highlight>
              <a:latin typeface="Arial"/>
              <a:ea typeface="맑은 고딕"/>
              <a:cs typeface="Arial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2AF91A0-C748-135E-5095-FCCD19D41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AB1874E-54EA-5A48-E380-F7C28B417E0F}"/>
              </a:ext>
            </a:extLst>
          </p:cNvPr>
          <p:cNvSpPr/>
          <p:nvPr/>
        </p:nvSpPr>
        <p:spPr>
          <a:xfrm>
            <a:off x="3266" y="6653711"/>
            <a:ext cx="12186556" cy="203199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51020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571855-930A-E077-9B58-467286543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CA87C5-C9E6-5EFD-A232-1437A2486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ea typeface="맑은 고딕"/>
              </a:rPr>
              <a:t>3. 본론 - 데이터 설명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918C0A9-DA5B-B10D-3F83-EB17E8F300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* **</a:t>
            </a:r>
            <a:r>
              <a:rPr lang="en-US" altLang="ko-KR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4.</a:t>
            </a:r>
            <a:r>
              <a:rPr lang="ko-KR" altLang="en-US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 </a:t>
            </a:r>
            <a:r>
              <a:rPr lang="en-US" altLang="ko-KR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Foot</a:t>
            </a:r>
            <a:r>
              <a:rPr lang="ko-KR" altLang="en-US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 </a:t>
            </a:r>
            <a:r>
              <a:rPr lang="en-US" altLang="ko-KR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Traffic</a:t>
            </a:r>
            <a:r>
              <a:rPr lang="ko-KR" altLang="en-US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 </a:t>
            </a:r>
            <a:r>
              <a:rPr lang="en-US" altLang="ko-KR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—</a:t>
            </a:r>
            <a:r>
              <a:rPr lang="ko-KR" altLang="en-US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 유동인구**</a:t>
            </a:r>
          </a:p>
          <a:p>
            <a:r>
              <a:rPr lang="ko-KR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* `대전광역시 </a:t>
            </a:r>
            <a:r>
              <a:rPr lang="ko-KR" dirty="0" err="1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서구_상권별</a:t>
            </a:r>
            <a:r>
              <a:rPr lang="ko-KR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 연월별 유동인구 현황_20230510.csv`: 서구 관내 주요 상권별 월별 유동인구 (대전 5개 자치구 중 서구 한정).</a:t>
            </a:r>
            <a:endParaRPr lang="ko-KR" altLang="en-US" dirty="0">
              <a:solidFill>
                <a:srgbClr val="222222"/>
              </a:solidFill>
              <a:highlight>
                <a:srgbClr val="FFFFFF"/>
              </a:highlight>
              <a:latin typeface="Arial"/>
              <a:ea typeface="맑은 고딕"/>
              <a:cs typeface="Arial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F780FF5-3F30-6B6C-4E22-2BD35B3F8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0440D7E-06D5-EB06-046C-9372FC162376}"/>
              </a:ext>
            </a:extLst>
          </p:cNvPr>
          <p:cNvSpPr/>
          <p:nvPr/>
        </p:nvSpPr>
        <p:spPr>
          <a:xfrm>
            <a:off x="3266" y="6653711"/>
            <a:ext cx="12186556" cy="203199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68464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EA0E0-83E9-1A50-921D-47384E494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FD7BC4-388D-ACDC-EFB9-7B07937F7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ea typeface="맑은 고딕"/>
              </a:rPr>
              <a:t>3. 본론 - 데이터 설명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B5F80B7-9673-AF31-1416-1FDC9CD2FD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7500" lnSpcReduction="20000"/>
          </a:bodyPr>
          <a:lstStyle/>
          <a:p>
            <a:r>
              <a:rPr lang="ko-KR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**미확보 / 추가 필요 데이터**</a:t>
            </a:r>
          </a:p>
          <a:p>
            <a:pPr>
              <a:lnSpc>
                <a:spcPct val="120000"/>
              </a:lnSpc>
            </a:pPr>
            <a:r>
              <a:rPr lang="ko-KR" altLang="en-US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* **네이버</a:t>
            </a:r>
            <a:r>
              <a:rPr lang="en-US" altLang="ko-KR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/</a:t>
            </a:r>
            <a:r>
              <a:rPr lang="ko-KR" altLang="en-US" dirty="0" err="1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카카오맵</a:t>
            </a:r>
            <a:r>
              <a:rPr lang="ko-KR" altLang="en-US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 리뷰 및 </a:t>
            </a:r>
            <a:r>
              <a:rPr lang="ko-KR" altLang="en-US" dirty="0" err="1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별점</a:t>
            </a:r>
            <a:r>
              <a:rPr lang="ko-KR" altLang="en-US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 데이터</a:t>
            </a:r>
            <a:r>
              <a:rPr lang="en-US" altLang="ko-KR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:**</a:t>
            </a:r>
            <a:r>
              <a:rPr lang="ko-KR" altLang="en-US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 </a:t>
            </a:r>
            <a:r>
              <a:rPr lang="en-US" altLang="ko-KR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"</a:t>
            </a:r>
            <a:r>
              <a:rPr lang="ko-KR" altLang="en-US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좋은데 덜 알려진</a:t>
            </a:r>
            <a:r>
              <a:rPr lang="en-US" altLang="ko-KR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"</a:t>
            </a:r>
            <a:r>
              <a:rPr lang="ko-KR" altLang="en-US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 로컬 숨은 명소</a:t>
            </a:r>
            <a:r>
              <a:rPr lang="en-US" altLang="ko-KR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(Hidden</a:t>
            </a:r>
            <a:r>
              <a:rPr lang="ko-KR" altLang="en-US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 </a:t>
            </a:r>
            <a:r>
              <a:rPr lang="en-US" altLang="ko-KR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Gem)</a:t>
            </a:r>
            <a:r>
              <a:rPr lang="ko-KR" altLang="en-US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 로직의 핵심 인풋 </a:t>
            </a:r>
            <a:r>
              <a:rPr lang="en-US" altLang="ko-KR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(</a:t>
            </a:r>
            <a:r>
              <a:rPr lang="ko-KR" altLang="en-US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평점은 높으나 리뷰 수는 적은 곳 판별용</a:t>
            </a:r>
            <a:r>
              <a:rPr lang="en-US" altLang="ko-KR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).</a:t>
            </a:r>
            <a:endParaRPr lang="ko-KR" altLang="en-US" dirty="0">
              <a:solidFill>
                <a:srgbClr val="222222"/>
              </a:solidFill>
              <a:highlight>
                <a:srgbClr val="FFFFFF"/>
              </a:highlight>
              <a:latin typeface="Arial"/>
              <a:ea typeface="맑은 고딕"/>
              <a:cs typeface="Arial"/>
            </a:endParaRPr>
          </a:p>
          <a:p>
            <a:pPr>
              <a:lnSpc>
                <a:spcPct val="120000"/>
              </a:lnSpc>
            </a:pPr>
            <a:r>
              <a:rPr lang="ko-KR" altLang="en-US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* **관광지 및 명소 데이터 </a:t>
            </a:r>
            <a:r>
              <a:rPr lang="en-US" altLang="ko-KR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(</a:t>
            </a:r>
            <a:r>
              <a:rPr lang="en-US" altLang="ko-KR" dirty="0" err="1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TourAPI</a:t>
            </a:r>
            <a:r>
              <a:rPr lang="ko-KR" altLang="en-US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 등</a:t>
            </a:r>
            <a:r>
              <a:rPr lang="en-US" altLang="ko-KR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):**</a:t>
            </a:r>
            <a:r>
              <a:rPr lang="ko-KR" altLang="en-US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 단순 식당</a:t>
            </a:r>
            <a:r>
              <a:rPr lang="en-US" altLang="ko-KR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/</a:t>
            </a:r>
            <a:r>
              <a:rPr lang="ko-KR" altLang="en-US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카페 추천을 넘어 </a:t>
            </a:r>
            <a:r>
              <a:rPr lang="en-US" altLang="ko-KR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'</a:t>
            </a:r>
            <a:r>
              <a:rPr lang="ko-KR" altLang="en-US" dirty="0" err="1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노잼도시</a:t>
            </a:r>
            <a:r>
              <a:rPr lang="en-US" altLang="ko-KR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'</a:t>
            </a:r>
            <a:r>
              <a:rPr lang="ko-KR" altLang="en-US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 탈피를 위한 주변 볼거리</a:t>
            </a:r>
            <a:r>
              <a:rPr lang="en-US" altLang="ko-KR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,</a:t>
            </a:r>
            <a:r>
              <a:rPr lang="ko-KR" altLang="en-US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 문화시설 및 축제 정보 연계용</a:t>
            </a:r>
            <a:r>
              <a:rPr lang="en-US" altLang="ko-KR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.</a:t>
            </a:r>
            <a:endParaRPr lang="ko-KR" altLang="en-US"/>
          </a:p>
          <a:p>
            <a:pPr>
              <a:lnSpc>
                <a:spcPct val="120000"/>
              </a:lnSpc>
            </a:pPr>
            <a:r>
              <a:rPr lang="ko-KR" altLang="en-US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* **</a:t>
            </a:r>
            <a:r>
              <a:rPr lang="ko-KR" altLang="en-US" dirty="0" err="1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구별</a:t>
            </a:r>
            <a:r>
              <a:rPr lang="en-US" altLang="ko-KR" dirty="0" err="1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×</a:t>
            </a:r>
            <a:r>
              <a:rPr lang="ko-KR" altLang="en-US" dirty="0" err="1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기간별</a:t>
            </a:r>
            <a:r>
              <a:rPr lang="en-US" altLang="ko-KR" dirty="0" err="1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×</a:t>
            </a:r>
            <a:r>
              <a:rPr lang="ko-KR" altLang="en-US" dirty="0" err="1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업종별</a:t>
            </a:r>
            <a:r>
              <a:rPr lang="ko-KR" altLang="en-US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 인허가 데이터 </a:t>
            </a:r>
            <a:r>
              <a:rPr lang="en-US" altLang="ko-KR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(API</a:t>
            </a:r>
            <a:r>
              <a:rPr lang="ko-KR" altLang="en-US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 </a:t>
            </a:r>
            <a:r>
              <a:rPr lang="en-US" altLang="ko-KR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#32):**</a:t>
            </a:r>
            <a:r>
              <a:rPr lang="ko-KR" altLang="en-US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 개업</a:t>
            </a:r>
            <a:r>
              <a:rPr lang="en-US" altLang="ko-KR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/</a:t>
            </a:r>
            <a:r>
              <a:rPr lang="ko-KR" altLang="en-US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폐업 추이를 세부적으로 파악하기 위한 </a:t>
            </a:r>
            <a:r>
              <a:rPr lang="en-US" altLang="ko-KR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3</a:t>
            </a:r>
            <a:r>
              <a:rPr lang="ko-KR" altLang="en-US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차원 시계열 데이터 </a:t>
            </a:r>
            <a:r>
              <a:rPr lang="en-US" altLang="ko-KR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(</a:t>
            </a:r>
            <a:r>
              <a:rPr lang="ko-KR" altLang="en-US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현재는 </a:t>
            </a:r>
            <a:r>
              <a:rPr lang="ko-KR" altLang="en-US" dirty="0" err="1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스킵</a:t>
            </a:r>
            <a:r>
              <a:rPr lang="ko-KR" altLang="en-US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 가능하며 선택 사항</a:t>
            </a:r>
            <a:r>
              <a:rPr lang="en-US" altLang="ko-KR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).</a:t>
            </a:r>
            <a:endParaRPr lang="ko-KR" altLang="en-US"/>
          </a:p>
          <a:p>
            <a:pPr>
              <a:lnSpc>
                <a:spcPct val="120000"/>
              </a:lnSpc>
            </a:pPr>
            <a:r>
              <a:rPr lang="ko-KR" altLang="en-US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* **서구 외 나머지 </a:t>
            </a:r>
            <a:r>
              <a:rPr lang="en-US" altLang="ko-KR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4</a:t>
            </a:r>
            <a:r>
              <a:rPr lang="ko-KR" altLang="en-US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개 구 유동인구 데이터</a:t>
            </a:r>
            <a:r>
              <a:rPr lang="en-US" altLang="ko-KR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:**</a:t>
            </a:r>
            <a:r>
              <a:rPr lang="ko-KR" altLang="en-US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 대전시 </a:t>
            </a:r>
            <a:r>
              <a:rPr lang="en-US" altLang="ko-KR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5</a:t>
            </a:r>
            <a:r>
              <a:rPr lang="ko-KR" altLang="en-US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개 구 전체를 대상으로 유동인구 지표를 정규화</a:t>
            </a:r>
            <a:r>
              <a:rPr lang="en-US" altLang="ko-KR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(Normalization)</a:t>
            </a:r>
            <a:r>
              <a:rPr lang="ko-KR" altLang="en-US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하여 비교할 경우 필요</a:t>
            </a:r>
            <a:r>
              <a:rPr lang="en-US" altLang="ko-KR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.</a:t>
            </a:r>
            <a:endParaRPr lang="ko-KR" altLang="en-US"/>
          </a:p>
          <a:p>
            <a:endParaRPr lang="ko-KR" dirty="0">
              <a:solidFill>
                <a:srgbClr val="222222"/>
              </a:solidFill>
              <a:highlight>
                <a:srgbClr val="FFFFFF"/>
              </a:highlight>
              <a:latin typeface="Arial"/>
              <a:ea typeface="맑은 고딕"/>
              <a:cs typeface="Arial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2504823-043B-3D9B-D353-64F09881B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63A92F4-BBC7-0CDE-FC0F-DEF081E45D47}"/>
              </a:ext>
            </a:extLst>
          </p:cNvPr>
          <p:cNvSpPr/>
          <p:nvPr/>
        </p:nvSpPr>
        <p:spPr>
          <a:xfrm>
            <a:off x="3266" y="6653711"/>
            <a:ext cx="12186556" cy="203199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33093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F91ADC-8E17-92DE-F6D6-ACDAAF33E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19A807-17FC-9CBC-BB6A-8AC502A9F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ea typeface="맑은 고딕"/>
              </a:rPr>
              <a:t>3. 본론 - 모델 설명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9ECC489-8700-4811-5F64-A8DDB465EB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 dirty="0">
                <a:ea typeface="맑은 고딕"/>
              </a:rPr>
              <a:t>추후에 넣을 예정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731BAC1-5D94-E993-9B7A-E06558457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6C133D6-B941-84B3-DF48-AA7C64201D3B}"/>
              </a:ext>
            </a:extLst>
          </p:cNvPr>
          <p:cNvSpPr/>
          <p:nvPr/>
        </p:nvSpPr>
        <p:spPr>
          <a:xfrm>
            <a:off x="3266" y="6653711"/>
            <a:ext cx="12186556" cy="203199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0908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E8DAFF-5C88-DD32-4A43-F96945609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BEFBE0-DA5D-A4CB-31FA-280541F27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ea typeface="맑은 고딕"/>
              </a:rPr>
              <a:t>4. 결론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67706A6-8562-FE6E-7566-8F89963351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9D4404E-6A42-9229-CF10-D7878ED4D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123F0FC-C87B-418F-57EF-0534422F6E77}"/>
              </a:ext>
            </a:extLst>
          </p:cNvPr>
          <p:cNvSpPr/>
          <p:nvPr/>
        </p:nvSpPr>
        <p:spPr>
          <a:xfrm>
            <a:off x="3266" y="6653711"/>
            <a:ext cx="12186556" cy="203199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60306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F0B830-B805-159B-9B20-4E3F6B774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B41A14-EA7F-81BC-2FB5-67198CAE0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ea typeface="맑은 고딕"/>
              </a:rPr>
              <a:t>4. 결론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2AE6080-BC15-910A-F4F1-F21F7EC8DF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 dirty="0">
                <a:ea typeface="맑은 고딕"/>
              </a:rPr>
              <a:t> </a:t>
            </a:r>
          </a:p>
          <a:p>
            <a:endParaRPr lang="ko-KR" altLang="en-US" dirty="0">
              <a:ea typeface="맑은 고딕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ECF41B4-A415-996E-5CFE-177DB70DF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F93239A-A1E4-D007-7F66-7E9BBF1E56B5}"/>
              </a:ext>
            </a:extLst>
          </p:cNvPr>
          <p:cNvSpPr/>
          <p:nvPr/>
        </p:nvSpPr>
        <p:spPr>
          <a:xfrm>
            <a:off x="3266" y="6653711"/>
            <a:ext cx="12186556" cy="203199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45023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E8AC80-D0E0-E31D-82B9-7E6231A18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D9558A-C7BA-30A8-763C-F8322D398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dirty="0" err="1">
                <a:ea typeface="+mj-lt"/>
                <a:cs typeface="+mj-lt"/>
              </a:rPr>
              <a:t>Reference</a:t>
            </a:r>
            <a:endParaRPr lang="ko-KR" dirty="0" err="1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B83A934-1DF9-60CA-DA1E-8AD84C0A5D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5D134B-1E2F-58F2-C3E4-406321823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DA99E1D-80B7-3626-55FB-F5C7BF372366}"/>
              </a:ext>
            </a:extLst>
          </p:cNvPr>
          <p:cNvSpPr/>
          <p:nvPr/>
        </p:nvSpPr>
        <p:spPr>
          <a:xfrm>
            <a:off x="3266" y="6653711"/>
            <a:ext cx="12186556" cy="203199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93038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5DDB1-AC25-7B36-A358-4D9FE714D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7DDF81-E642-5DB8-22D0-0181638FBC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31528" y="1040720"/>
            <a:ext cx="6523973" cy="2387600"/>
          </a:xfrm>
        </p:spPr>
        <p:txBody>
          <a:bodyPr/>
          <a:lstStyle/>
          <a:p>
            <a:r>
              <a:rPr lang="ko-KR" altLang="en-US" dirty="0">
                <a:ea typeface="맑은 고딕"/>
              </a:rPr>
              <a:t>감사합니다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2AD899A-3B1D-902D-8F7E-6D0067E9A2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49671" y="3583895"/>
            <a:ext cx="6523973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 dirty="0" err="1">
                <a:ea typeface="맑은 고딕"/>
              </a:rPr>
              <a:t>Q</a:t>
            </a:r>
            <a:r>
              <a:rPr lang="ko-KR" altLang="en-US" dirty="0">
                <a:ea typeface="맑은 고딕"/>
              </a:rPr>
              <a:t> &amp; </a:t>
            </a:r>
            <a:r>
              <a:rPr lang="ko-KR" altLang="en-US" dirty="0" err="1">
                <a:ea typeface="맑은 고딕"/>
              </a:rPr>
              <a:t>A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F523842-46F2-3DA0-C2E3-AB2D87EFE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488E29-FEA9-A2FF-F02D-17C9B105FC05}"/>
              </a:ext>
            </a:extLst>
          </p:cNvPr>
          <p:cNvSpPr txBox="1"/>
          <p:nvPr/>
        </p:nvSpPr>
        <p:spPr>
          <a:xfrm>
            <a:off x="294639" y="193039"/>
            <a:ext cx="144271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dirty="0">
                <a:ea typeface="맑은 고딕"/>
              </a:rPr>
              <a:t>[2026년 9월]</a:t>
            </a:r>
            <a:endParaRPr lang="ko-KR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5064E8A-4BF4-9EC2-0932-7A484E1DAB7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840" r="35931" b="1399"/>
          <a:stretch>
            <a:fillRect/>
          </a:stretch>
        </p:blipFill>
        <p:spPr>
          <a:xfrm>
            <a:off x="1733184" y="3026584"/>
            <a:ext cx="900707" cy="1465114"/>
          </a:xfrm>
          <a:prstGeom prst="rect">
            <a:avLst/>
          </a:prstGeom>
        </p:spPr>
      </p:pic>
      <p:pic>
        <p:nvPicPr>
          <p:cNvPr id="7" name="그림 6" descr="Ai 모델 - 무료 산업개 아이콘">
            <a:extLst>
              <a:ext uri="{FF2B5EF4-FFF2-40B4-BE49-F238E27FC236}">
                <a16:creationId xmlns:a16="http://schemas.microsoft.com/office/drawing/2014/main" id="{8B15A1BE-D7A3-E6D9-EAFC-606A1C5EB2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5339" y="3367525"/>
            <a:ext cx="1135433" cy="92222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9E96A26-5BCD-2AF9-04FC-F1C421A5DDBA}"/>
              </a:ext>
            </a:extLst>
          </p:cNvPr>
          <p:cNvSpPr txBox="1"/>
          <p:nvPr/>
        </p:nvSpPr>
        <p:spPr>
          <a:xfrm>
            <a:off x="4763950" y="4184106"/>
            <a:ext cx="289995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dirty="0">
                <a:ea typeface="맑은 고딕"/>
              </a:rPr>
              <a:t>22619014@konyang.ac.kr</a:t>
            </a:r>
            <a:endParaRPr lang="ko-KR" dirty="0"/>
          </a:p>
          <a:p>
            <a:endParaRPr lang="ko-KR" altLang="en-US" dirty="0">
              <a:ea typeface="맑은 고딕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E611676-B0C5-15C0-5D84-C924F65CDAB3}"/>
              </a:ext>
            </a:extLst>
          </p:cNvPr>
          <p:cNvSpPr/>
          <p:nvPr/>
        </p:nvSpPr>
        <p:spPr>
          <a:xfrm>
            <a:off x="3266" y="6653711"/>
            <a:ext cx="12186556" cy="203199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13219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989CAC-41B2-95F3-4886-CF45B6EF2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17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500FFB6-D817-62F0-2C8A-85FDE18006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7297" y="-446087"/>
            <a:ext cx="7482205" cy="7394575"/>
          </a:xfrm>
          <a:prstGeom prst="rect">
            <a:avLst/>
          </a:prstGeom>
        </p:spPr>
      </p:pic>
      <p:sp>
        <p:nvSpPr>
          <p:cNvPr id="7" name="액자 6">
            <a:extLst>
              <a:ext uri="{FF2B5EF4-FFF2-40B4-BE49-F238E27FC236}">
                <a16:creationId xmlns:a16="http://schemas.microsoft.com/office/drawing/2014/main" id="{1A87E476-A6D4-BB61-1DC0-FF666C4FE7FB}"/>
              </a:ext>
            </a:extLst>
          </p:cNvPr>
          <p:cNvSpPr/>
          <p:nvPr/>
        </p:nvSpPr>
        <p:spPr>
          <a:xfrm>
            <a:off x="3068320" y="1117599"/>
            <a:ext cx="1209040" cy="386080"/>
          </a:xfrm>
          <a:prstGeom prst="fra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액자 8">
            <a:extLst>
              <a:ext uri="{FF2B5EF4-FFF2-40B4-BE49-F238E27FC236}">
                <a16:creationId xmlns:a16="http://schemas.microsoft.com/office/drawing/2014/main" id="{353F712B-D0A1-91B4-6686-F101D879B7D3}"/>
              </a:ext>
            </a:extLst>
          </p:cNvPr>
          <p:cNvSpPr/>
          <p:nvPr/>
        </p:nvSpPr>
        <p:spPr>
          <a:xfrm>
            <a:off x="5209572" y="1428072"/>
            <a:ext cx="1209040" cy="386080"/>
          </a:xfrm>
          <a:prstGeom prst="fra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액자 9">
            <a:extLst>
              <a:ext uri="{FF2B5EF4-FFF2-40B4-BE49-F238E27FC236}">
                <a16:creationId xmlns:a16="http://schemas.microsoft.com/office/drawing/2014/main" id="{68268884-297C-B733-1BC7-E3B23C25B58D}"/>
              </a:ext>
            </a:extLst>
          </p:cNvPr>
          <p:cNvSpPr/>
          <p:nvPr/>
        </p:nvSpPr>
        <p:spPr>
          <a:xfrm>
            <a:off x="7402813" y="1117598"/>
            <a:ext cx="1209040" cy="386080"/>
          </a:xfrm>
          <a:prstGeom prst="fra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액자 10">
            <a:extLst>
              <a:ext uri="{FF2B5EF4-FFF2-40B4-BE49-F238E27FC236}">
                <a16:creationId xmlns:a16="http://schemas.microsoft.com/office/drawing/2014/main" id="{FC71D72E-8144-375C-6DBE-352C918FBF5C}"/>
              </a:ext>
            </a:extLst>
          </p:cNvPr>
          <p:cNvSpPr/>
          <p:nvPr/>
        </p:nvSpPr>
        <p:spPr>
          <a:xfrm>
            <a:off x="3072013" y="1428072"/>
            <a:ext cx="1209040" cy="386080"/>
          </a:xfrm>
          <a:prstGeom prst="fram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2" name="액자 11">
            <a:extLst>
              <a:ext uri="{FF2B5EF4-FFF2-40B4-BE49-F238E27FC236}">
                <a16:creationId xmlns:a16="http://schemas.microsoft.com/office/drawing/2014/main" id="{6DD14A73-32E5-7ED2-5983-50B57B328A95}"/>
              </a:ext>
            </a:extLst>
          </p:cNvPr>
          <p:cNvSpPr/>
          <p:nvPr/>
        </p:nvSpPr>
        <p:spPr>
          <a:xfrm>
            <a:off x="5209571" y="2031734"/>
            <a:ext cx="1209040" cy="386080"/>
          </a:xfrm>
          <a:prstGeom prst="fram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3" name="액자 12">
            <a:extLst>
              <a:ext uri="{FF2B5EF4-FFF2-40B4-BE49-F238E27FC236}">
                <a16:creationId xmlns:a16="http://schemas.microsoft.com/office/drawing/2014/main" id="{D4FE928B-55A1-4747-1A7C-F085DDB84BF6}"/>
              </a:ext>
            </a:extLst>
          </p:cNvPr>
          <p:cNvSpPr/>
          <p:nvPr/>
        </p:nvSpPr>
        <p:spPr>
          <a:xfrm>
            <a:off x="7406506" y="3248954"/>
            <a:ext cx="1209040" cy="386080"/>
          </a:xfrm>
          <a:prstGeom prst="fram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4" name="액자 13">
            <a:extLst>
              <a:ext uri="{FF2B5EF4-FFF2-40B4-BE49-F238E27FC236}">
                <a16:creationId xmlns:a16="http://schemas.microsoft.com/office/drawing/2014/main" id="{4A58C2FA-EFC4-7664-7C6E-3943FD6F629A}"/>
              </a:ext>
            </a:extLst>
          </p:cNvPr>
          <p:cNvSpPr/>
          <p:nvPr/>
        </p:nvSpPr>
        <p:spPr>
          <a:xfrm>
            <a:off x="3062116" y="2694772"/>
            <a:ext cx="1209040" cy="386080"/>
          </a:xfrm>
          <a:prstGeom prst="fram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5" name="액자 14">
            <a:extLst>
              <a:ext uri="{FF2B5EF4-FFF2-40B4-BE49-F238E27FC236}">
                <a16:creationId xmlns:a16="http://schemas.microsoft.com/office/drawing/2014/main" id="{FC256404-CFEF-2EE9-3DBD-F53AA5C6DF7C}"/>
              </a:ext>
            </a:extLst>
          </p:cNvPr>
          <p:cNvSpPr/>
          <p:nvPr/>
        </p:nvSpPr>
        <p:spPr>
          <a:xfrm>
            <a:off x="5209570" y="804616"/>
            <a:ext cx="1209040" cy="386080"/>
          </a:xfrm>
          <a:prstGeom prst="fram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6" name="액자 15">
            <a:extLst>
              <a:ext uri="{FF2B5EF4-FFF2-40B4-BE49-F238E27FC236}">
                <a16:creationId xmlns:a16="http://schemas.microsoft.com/office/drawing/2014/main" id="{C26DFA74-7D39-3FDD-8C8B-2E2214714068}"/>
              </a:ext>
            </a:extLst>
          </p:cNvPr>
          <p:cNvSpPr/>
          <p:nvPr/>
        </p:nvSpPr>
        <p:spPr>
          <a:xfrm>
            <a:off x="7396609" y="804616"/>
            <a:ext cx="1209040" cy="386080"/>
          </a:xfrm>
          <a:prstGeom prst="fram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80062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와이드스크린</PresentationFormat>
  <Paragraphs>0</Paragraphs>
  <Slides>17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18" baseType="lpstr">
      <vt:lpstr>Office 테마</vt:lpstr>
      <vt:lpstr>AI 기반 대전 지역상권 활성화 추천 시스탬</vt:lpstr>
      <vt:lpstr>초록</vt:lpstr>
      <vt:lpstr>2. 서론</vt:lpstr>
      <vt:lpstr>2. 서론</vt:lpstr>
      <vt:lpstr>3. 본론 - 전체적인 아키텍처</vt:lpstr>
      <vt:lpstr>3. 본론 - 데이터 설명 </vt:lpstr>
      <vt:lpstr>3. 본론 - 데이터 설명 </vt:lpstr>
      <vt:lpstr>3. 본론 - 데이터 설명 </vt:lpstr>
      <vt:lpstr>3. 본론 - 데이터 설명 </vt:lpstr>
      <vt:lpstr>3. 본론 - 데이터 설명 </vt:lpstr>
      <vt:lpstr>3. 본론 - 데이터 설명 </vt:lpstr>
      <vt:lpstr>3. 본론 - 모델 설명</vt:lpstr>
      <vt:lpstr>4. 결론</vt:lpstr>
      <vt:lpstr>4. 결론</vt:lpstr>
      <vt:lpstr>Reference</vt:lpstr>
      <vt:lpstr>감사합니다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271</cp:revision>
  <dcterms:created xsi:type="dcterms:W3CDTF">2026-09-09T09:20:53Z</dcterms:created>
  <dcterms:modified xsi:type="dcterms:W3CDTF">2026-09-09T14:38:01Z</dcterms:modified>
</cp:coreProperties>
</file>