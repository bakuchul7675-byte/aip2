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mo" charset="1" panose="020B0604020202020204"/>
      <p:regular r:id="rId17"/>
    </p:embeddedFont>
    <p:embeddedFont>
      <p:font typeface="Times New Roman MT Bold" charset="1" panose="02030802070405020303"/>
      <p:regular r:id="rId18"/>
    </p:embeddedFont>
    <p:embeddedFont>
      <p:font typeface="Times New Roman MT" charset="1" panose="02030502070405020303"/>
      <p:regular r:id="rId19"/>
    </p:embeddedFont>
    <p:embeddedFont>
      <p:font typeface="CanvaSansSC-Regular" charset="1" panose="00000000000000000000"/>
      <p:regular r:id="rId20"/>
    </p:embeddedFont>
    <p:embeddedFont>
      <p:font typeface="Arimo Bold" charset="1" panose="020B07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embeddings/oleObject2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09246" y="5929318"/>
            <a:ext cx="12801600" cy="3960424"/>
            <a:chOff x="0" y="0"/>
            <a:chExt cx="17068800" cy="52805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0" cy="5280569"/>
            </a:xfrm>
            <a:custGeom>
              <a:avLst/>
              <a:gdLst/>
              <a:ahLst/>
              <a:cxnLst/>
              <a:rect r="r" b="b" t="t" l="l"/>
              <a:pathLst>
                <a:path h="5280569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5280569"/>
                  </a:lnTo>
                  <a:lnTo>
                    <a:pt x="0" y="52805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122" r="0" b="101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7068800" cy="5375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99"/>
                </a:lnSpc>
              </a:pPr>
              <a:r>
                <a:rPr lang="en-US" sz="27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AI Project - 1조</a:t>
              </a:r>
            </a:p>
            <a:p>
              <a:pPr algn="ctr">
                <a:lnSpc>
                  <a:spcPts val="4199"/>
                </a:lnSpc>
              </a:pPr>
              <a:r>
                <a:rPr lang="en-US" sz="27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양다윗 - 22619014</a:t>
              </a:r>
            </a:p>
            <a:p>
              <a:pPr algn="ctr">
                <a:lnSpc>
                  <a:spcPts val="4199"/>
                </a:lnSpc>
              </a:pPr>
              <a:r>
                <a:rPr lang="en-US" sz="27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 엘몬 - 24619044</a:t>
              </a:r>
            </a:p>
            <a:p>
              <a:pPr algn="ctr">
                <a:lnSpc>
                  <a:spcPts val="4199"/>
                </a:lnSpc>
              </a:pPr>
              <a:r>
                <a:rPr lang="en-US" sz="27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비비안 - 24619043</a:t>
              </a:r>
            </a:p>
            <a:p>
              <a:pPr algn="ctr">
                <a:lnSpc>
                  <a:spcPts val="3600"/>
                </a:lnSpc>
              </a:pPr>
            </a:p>
            <a:p>
              <a:pPr algn="ctr">
                <a:lnSpc>
                  <a:spcPts val="3600"/>
                </a:lnSpc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인공지능학과</a:t>
              </a:r>
            </a:p>
            <a:p>
              <a:pPr algn="ctr">
                <a:lnSpc>
                  <a:spcPts val="3600"/>
                </a:lnSpc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건양대학교</a:t>
              </a:r>
            </a:p>
            <a:p>
              <a:pPr algn="ctr">
                <a:lnSpc>
                  <a:spcPts val="3600"/>
                </a:lnSpc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2026.09.11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4298" y="2388604"/>
            <a:ext cx="17099404" cy="3000921"/>
            <a:chOff x="0" y="0"/>
            <a:chExt cx="22799205" cy="40012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99201" cy="4001234"/>
            </a:xfrm>
            <a:custGeom>
              <a:avLst/>
              <a:gdLst/>
              <a:ahLst/>
              <a:cxnLst/>
              <a:rect r="r" b="b" t="t" l="l"/>
              <a:pathLst>
                <a:path h="4001234" w="22799201">
                  <a:moveTo>
                    <a:pt x="0" y="0"/>
                  </a:moveTo>
                  <a:lnTo>
                    <a:pt x="22799201" y="0"/>
                  </a:lnTo>
                  <a:lnTo>
                    <a:pt x="22799201" y="4001234"/>
                  </a:lnTo>
                  <a:lnTo>
                    <a:pt x="0" y="40012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16" r="0" b="-9463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2799205" cy="41155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20"/>
                </a:lnSpc>
              </a:pPr>
              <a:r>
                <a:rPr lang="en-US" sz="5600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AI 민원</a:t>
              </a:r>
              <a:r>
                <a:rPr lang="en-US" sz="5600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행정 서비스 : 대전바로</a:t>
              </a:r>
            </a:p>
            <a:p>
              <a:pPr algn="ctr">
                <a:lnSpc>
                  <a:spcPts val="6720"/>
                </a:lnSpc>
              </a:pPr>
            </a:p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대전시 조례·법령 기반 민원 자동 분류 및 답변 초안 생성 시스템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028700"/>
            <a:ext cx="2066473" cy="1799194"/>
            <a:chOff x="0" y="0"/>
            <a:chExt cx="2176094" cy="18946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6145" cy="1894586"/>
            </a:xfrm>
            <a:custGeom>
              <a:avLst/>
              <a:gdLst/>
              <a:ahLst/>
              <a:cxnLst/>
              <a:rect r="r" b="b" t="t" l="l"/>
              <a:pathLst>
                <a:path h="1894586" w="2176145">
                  <a:moveTo>
                    <a:pt x="0" y="0"/>
                  </a:moveTo>
                  <a:lnTo>
                    <a:pt x="2176145" y="0"/>
                  </a:lnTo>
                  <a:lnTo>
                    <a:pt x="2176145" y="1894586"/>
                  </a:lnTo>
                  <a:lnTo>
                    <a:pt x="0" y="18945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848405" y="1028700"/>
            <a:ext cx="2410895" cy="2099068"/>
            <a:chOff x="0" y="0"/>
            <a:chExt cx="2176094" cy="18946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145" cy="1894586"/>
            </a:xfrm>
            <a:custGeom>
              <a:avLst/>
              <a:gdLst/>
              <a:ahLst/>
              <a:cxnLst/>
              <a:rect r="r" b="b" t="t" l="l"/>
              <a:pathLst>
                <a:path h="1894586" w="2176145">
                  <a:moveTo>
                    <a:pt x="0" y="0"/>
                  </a:moveTo>
                  <a:lnTo>
                    <a:pt x="2176145" y="0"/>
                  </a:lnTo>
                  <a:lnTo>
                    <a:pt x="2176145" y="1894586"/>
                  </a:lnTo>
                  <a:lnTo>
                    <a:pt x="0" y="18945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776" r="0" b="-777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30142" y="591744"/>
            <a:ext cx="1636757" cy="1636757"/>
            <a:chOff x="0" y="0"/>
            <a:chExt cx="2182343" cy="21823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2368" cy="2182368"/>
            </a:xfrm>
            <a:custGeom>
              <a:avLst/>
              <a:gdLst/>
              <a:ahLst/>
              <a:cxnLst/>
              <a:rect r="r" b="b" t="t" l="l"/>
              <a:pathLst>
                <a:path h="2182368" w="2182368">
                  <a:moveTo>
                    <a:pt x="0" y="0"/>
                  </a:moveTo>
                  <a:lnTo>
                    <a:pt x="2182368" y="0"/>
                  </a:lnTo>
                  <a:lnTo>
                    <a:pt x="2182368" y="2182368"/>
                  </a:lnTo>
                  <a:lnTo>
                    <a:pt x="0" y="2182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1" r="0" b="-301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1594033" y="2244389"/>
            <a:ext cx="15338109" cy="0"/>
          </a:xfrm>
          <a:prstGeom prst="line">
            <a:avLst/>
          </a:prstGeom>
          <a:ln cap="rnd" w="19050">
            <a:solidFill>
              <a:srgbClr val="1D7B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391492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568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321748" y="2736953"/>
            <a:ext cx="14178913" cy="5933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6131" indent="-293066" lvl="1">
              <a:lnSpc>
                <a:spcPts val="6787"/>
              </a:lnSpc>
              <a:buAutoNum type="arabicPeriod" startAt="1"/>
            </a:pPr>
            <a:r>
              <a:rPr lang="en-US" sz="2714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문제</a:t>
            </a:r>
            <a:r>
              <a:rPr lang="en-US" sz="2714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</a:t>
            </a:r>
            <a:r>
              <a:rPr lang="en-US" sz="2714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정의 및 해결 목표</a:t>
            </a:r>
          </a:p>
          <a:p>
            <a:pPr algn="l" marL="586131" indent="-293066" lvl="1">
              <a:lnSpc>
                <a:spcPts val="6787"/>
              </a:lnSpc>
              <a:buAutoNum type="arabicPeriod" startAt="1"/>
            </a:pPr>
            <a:r>
              <a:rPr lang="en-US" sz="2714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시스템 전체 구조</a:t>
            </a:r>
          </a:p>
          <a:p>
            <a:pPr algn="l" marL="586131" indent="-293066" lvl="1">
              <a:lnSpc>
                <a:spcPts val="6787"/>
              </a:lnSpc>
              <a:buAutoNum type="arabicPeriod" startAt="1"/>
            </a:pPr>
            <a:r>
              <a:rPr lang="en-US" sz="2714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데이터셋 소개</a:t>
            </a:r>
          </a:p>
          <a:p>
            <a:pPr algn="l" marL="586131" indent="-293066" lvl="1">
              <a:lnSpc>
                <a:spcPts val="6787"/>
              </a:lnSpc>
              <a:buAutoNum type="arabicPeriod" startAt="1"/>
            </a:pPr>
            <a:r>
              <a:rPr lang="en-US" sz="2714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적용 AI 모델 검토 후보군</a:t>
            </a:r>
          </a:p>
          <a:p>
            <a:pPr algn="l" marL="586131" indent="-293066" lvl="1">
              <a:lnSpc>
                <a:spcPts val="6787"/>
              </a:lnSpc>
              <a:buAutoNum type="arabicPeriod" startAt="1"/>
            </a:pPr>
            <a:r>
              <a:rPr lang="en-US" sz="2714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사용자 및 공무원 화면(UI)</a:t>
            </a:r>
          </a:p>
          <a:p>
            <a:pPr algn="l" marL="586131" indent="-293066" lvl="1">
              <a:lnSpc>
                <a:spcPts val="6787"/>
              </a:lnSpc>
              <a:buAutoNum type="arabicPeriod" startAt="1"/>
            </a:pPr>
            <a:r>
              <a:rPr lang="en-US" sz="2714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핵심 기술 전략</a:t>
            </a:r>
          </a:p>
          <a:p>
            <a:pPr algn="l" marL="586131" indent="-293066" lvl="1">
              <a:lnSpc>
                <a:spcPts val="6787"/>
              </a:lnSpc>
              <a:buAutoNum type="arabicPeriod" startAt="1"/>
            </a:pPr>
            <a:r>
              <a:rPr lang="en-US" sz="2714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기대 효과 및 추진 일정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832208" y="908866"/>
            <a:ext cx="14824617" cy="1319635"/>
            <a:chOff x="0" y="0"/>
            <a:chExt cx="19766156" cy="17595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66156" cy="1759514"/>
            </a:xfrm>
            <a:custGeom>
              <a:avLst/>
              <a:gdLst/>
              <a:ahLst/>
              <a:cxnLst/>
              <a:rect r="r" b="b" t="t" l="l"/>
              <a:pathLst>
                <a:path h="1759514" w="19766156">
                  <a:moveTo>
                    <a:pt x="0" y="0"/>
                  </a:moveTo>
                  <a:lnTo>
                    <a:pt x="19766156" y="0"/>
                  </a:lnTo>
                  <a:lnTo>
                    <a:pt x="19766156" y="1759514"/>
                  </a:lnTo>
                  <a:lnTo>
                    <a:pt x="0" y="17595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066" r="-11026" b="-20798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9766156" cy="182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spc="18">
                  <a:solidFill>
                    <a:srgbClr val="044484"/>
                  </a:solidFill>
                  <a:latin typeface="CanvaSansSC-Regular"/>
                  <a:ea typeface="CanvaSansSC-Regular"/>
                  <a:cs typeface="CanvaSansSC-Regular"/>
                  <a:sym typeface="CanvaSansSC-Regular"/>
                </a:rPr>
                <a:t>목차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30142" y="591744"/>
            <a:ext cx="1636757" cy="1636757"/>
            <a:chOff x="0" y="0"/>
            <a:chExt cx="2182343" cy="21823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2368" cy="2182368"/>
            </a:xfrm>
            <a:custGeom>
              <a:avLst/>
              <a:gdLst/>
              <a:ahLst/>
              <a:cxnLst/>
              <a:rect r="r" b="b" t="t" l="l"/>
              <a:pathLst>
                <a:path h="2182368" w="2182368">
                  <a:moveTo>
                    <a:pt x="0" y="0"/>
                  </a:moveTo>
                  <a:lnTo>
                    <a:pt x="2182368" y="0"/>
                  </a:lnTo>
                  <a:lnTo>
                    <a:pt x="2182368" y="2182368"/>
                  </a:lnTo>
                  <a:lnTo>
                    <a:pt x="0" y="2182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1" r="0" b="-301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1594033" y="2244389"/>
            <a:ext cx="15338109" cy="0"/>
          </a:xfrm>
          <a:prstGeom prst="line">
            <a:avLst/>
          </a:prstGeom>
          <a:ln cap="rnd" w="19050">
            <a:solidFill>
              <a:srgbClr val="1D7B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155060" y="2716524"/>
            <a:ext cx="14178913" cy="700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599"/>
              </a:lnSpc>
              <a:buAutoNum type="arabicPeriod" startAt="1"/>
            </a:pPr>
            <a:r>
              <a:rPr lang="en-US" sz="2799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대전시 행정 현안</a:t>
            </a:r>
          </a:p>
          <a:p>
            <a:pPr algn="l" marL="875486" indent="-437743" lvl="1">
              <a:lnSpc>
                <a:spcPts val="5599"/>
              </a:lnSpc>
              <a:buFont typeface="Arial"/>
              <a:buChar char="•"/>
            </a:pPr>
            <a:r>
              <a:rPr lang="en-US" sz="2799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인프라 민원 집중: 트램 공사, 버스 노선 개편</a:t>
            </a:r>
            <a:r>
              <a:rPr lang="en-US" sz="2799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등으로 교통 민원 급증</a:t>
            </a:r>
          </a:p>
          <a:p>
            <a:pPr algn="l" marL="875486" indent="-437743" lvl="1">
              <a:lnSpc>
                <a:spcPts val="5599"/>
              </a:lnSpc>
              <a:buFont typeface="Arial"/>
              <a:buChar char="•"/>
            </a:pPr>
            <a:r>
              <a:rPr lang="en-US" sz="2799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부서 분류 지연: </a:t>
            </a:r>
            <a:r>
              <a:rPr lang="en-US" sz="2799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시청과 5개 구청 간 담당 부서 배정 병목</a:t>
            </a:r>
          </a:p>
          <a:p>
            <a:pPr algn="l" marL="875486" indent="-437743" lvl="1">
              <a:lnSpc>
                <a:spcPts val="5599"/>
              </a:lnSpc>
              <a:buFont typeface="Arial"/>
              <a:buChar char="•"/>
            </a:pPr>
            <a:r>
              <a:rPr lang="en-US" sz="2799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조례</a:t>
            </a:r>
            <a:r>
              <a:rPr lang="en-US" sz="2799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대조 부담: 국가 법률 외에 대전시 전용 조례까지</a:t>
            </a:r>
            <a:r>
              <a:rPr lang="en-US" sz="2799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수동 확인 필요</a:t>
            </a:r>
          </a:p>
          <a:p>
            <a:pPr algn="l">
              <a:lnSpc>
                <a:spcPts val="5599"/>
              </a:lnSpc>
            </a:pPr>
          </a:p>
          <a:p>
            <a:pPr algn="l" marL="604519" indent="-302260" lvl="1">
              <a:lnSpc>
                <a:spcPts val="5599"/>
              </a:lnSpc>
              <a:buAutoNum type="arabicPeriod" startAt="1"/>
            </a:pPr>
            <a:r>
              <a:rPr lang="en-US" sz="2799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해결 목표</a:t>
            </a:r>
          </a:p>
          <a:p>
            <a:pPr algn="just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sz="2799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민원 내용 분석을 통한 담당 부서 자동 배정</a:t>
            </a:r>
          </a:p>
          <a:p>
            <a:pPr algn="just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sz="2799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국가 법률과 대전시 조례 동시 검색</a:t>
            </a:r>
          </a:p>
          <a:p>
            <a:pPr algn="just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sz="2799" spc="8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법적 근거가 포함된 답변 초안 자동 생성</a:t>
            </a:r>
          </a:p>
          <a:p>
            <a:pPr algn="l">
              <a:lnSpc>
                <a:spcPts val="542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832208" y="908866"/>
            <a:ext cx="14824617" cy="1319635"/>
            <a:chOff x="0" y="0"/>
            <a:chExt cx="19766156" cy="17595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66156" cy="1759514"/>
            </a:xfrm>
            <a:custGeom>
              <a:avLst/>
              <a:gdLst/>
              <a:ahLst/>
              <a:cxnLst/>
              <a:rect r="r" b="b" t="t" l="l"/>
              <a:pathLst>
                <a:path h="1759514" w="19766156">
                  <a:moveTo>
                    <a:pt x="0" y="0"/>
                  </a:moveTo>
                  <a:lnTo>
                    <a:pt x="19766156" y="0"/>
                  </a:lnTo>
                  <a:lnTo>
                    <a:pt x="19766156" y="1759514"/>
                  </a:lnTo>
                  <a:lnTo>
                    <a:pt x="0" y="17595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066" r="-11026" b="-20798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9766156" cy="182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spc="18">
                  <a:solidFill>
                    <a:srgbClr val="044484"/>
                  </a:solidFill>
                  <a:latin typeface="CanvaSansSC-Regular"/>
                  <a:ea typeface="CanvaSansSC-Regular"/>
                  <a:cs typeface="CanvaSansSC-Regular"/>
                  <a:sym typeface="CanvaSansSC-Regular"/>
                </a:rPr>
                <a:t>문제 정의 및 해결 목표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745012" y="9449571"/>
            <a:ext cx="4253041" cy="547688"/>
            <a:chOff x="0" y="0"/>
            <a:chExt cx="5670721" cy="7302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70721" cy="730251"/>
            </a:xfrm>
            <a:custGeom>
              <a:avLst/>
              <a:gdLst/>
              <a:ahLst/>
              <a:cxnLst/>
              <a:rect r="r" b="b" t="t" l="l"/>
              <a:pathLst>
                <a:path h="730251" w="5670721">
                  <a:moveTo>
                    <a:pt x="0" y="0"/>
                  </a:moveTo>
                  <a:lnTo>
                    <a:pt x="5670721" y="0"/>
                  </a:lnTo>
                  <a:lnTo>
                    <a:pt x="5670721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-332" b="-1018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5670721" cy="739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30142" y="591744"/>
            <a:ext cx="1636757" cy="1636757"/>
            <a:chOff x="0" y="0"/>
            <a:chExt cx="2182343" cy="21823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2368" cy="2182368"/>
            </a:xfrm>
            <a:custGeom>
              <a:avLst/>
              <a:gdLst/>
              <a:ahLst/>
              <a:cxnLst/>
              <a:rect r="r" b="b" t="t" l="l"/>
              <a:pathLst>
                <a:path h="2182368" w="2182368">
                  <a:moveTo>
                    <a:pt x="0" y="0"/>
                  </a:moveTo>
                  <a:lnTo>
                    <a:pt x="2182368" y="0"/>
                  </a:lnTo>
                  <a:lnTo>
                    <a:pt x="2182368" y="2182368"/>
                  </a:lnTo>
                  <a:lnTo>
                    <a:pt x="0" y="2182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1" r="0" b="-301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1594033" y="2244389"/>
            <a:ext cx="15338109" cy="0"/>
          </a:xfrm>
          <a:prstGeom prst="line">
            <a:avLst/>
          </a:prstGeom>
          <a:ln cap="rnd" w="19050">
            <a:solidFill>
              <a:srgbClr val="1D7B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3914920" y="9534525"/>
            <a:ext cx="4267200" cy="547688"/>
            <a:chOff x="0" y="0"/>
            <a:chExt cx="5689600" cy="7302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5689600" cy="739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4033" y="908866"/>
            <a:ext cx="14824617" cy="1319635"/>
            <a:chOff x="0" y="0"/>
            <a:chExt cx="19766156" cy="17595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66156" cy="1759514"/>
            </a:xfrm>
            <a:custGeom>
              <a:avLst/>
              <a:gdLst/>
              <a:ahLst/>
              <a:cxnLst/>
              <a:rect r="r" b="b" t="t" l="l"/>
              <a:pathLst>
                <a:path h="1759514" w="19766156">
                  <a:moveTo>
                    <a:pt x="0" y="0"/>
                  </a:moveTo>
                  <a:lnTo>
                    <a:pt x="19766156" y="0"/>
                  </a:lnTo>
                  <a:lnTo>
                    <a:pt x="19766156" y="1759514"/>
                  </a:lnTo>
                  <a:lnTo>
                    <a:pt x="0" y="17595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066" r="-11026" b="-20798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9766156" cy="182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spc="18">
                  <a:solidFill>
                    <a:srgbClr val="044484"/>
                  </a:solidFill>
                  <a:latin typeface="CanvaSansSC-Regular"/>
                  <a:ea typeface="CanvaSansSC-Regular"/>
                  <a:cs typeface="CanvaSansSC-Regular"/>
                  <a:sym typeface="CanvaSansSC-Regular"/>
                </a:rPr>
                <a:t> 시스템 전체 구조 : 오프라인 지식 구축 및 모델 학습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757200" y="2442615"/>
            <a:ext cx="12472941" cy="7844385"/>
          </a:xfrm>
          <a:custGeom>
            <a:avLst/>
            <a:gdLst/>
            <a:ahLst/>
            <a:cxnLst/>
            <a:rect r="r" b="b" t="t" l="l"/>
            <a:pathLst>
              <a:path h="7844385" w="12472941">
                <a:moveTo>
                  <a:pt x="0" y="0"/>
                </a:moveTo>
                <a:lnTo>
                  <a:pt x="12472942" y="0"/>
                </a:lnTo>
                <a:lnTo>
                  <a:pt x="12472942" y="7844385"/>
                </a:lnTo>
                <a:lnTo>
                  <a:pt x="0" y="78443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265" r="0" b="-1738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30142" y="591744"/>
            <a:ext cx="1636757" cy="1636757"/>
            <a:chOff x="0" y="0"/>
            <a:chExt cx="2182343" cy="21823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2368" cy="2182368"/>
            </a:xfrm>
            <a:custGeom>
              <a:avLst/>
              <a:gdLst/>
              <a:ahLst/>
              <a:cxnLst/>
              <a:rect r="r" b="b" t="t" l="l"/>
              <a:pathLst>
                <a:path h="2182368" w="2182368">
                  <a:moveTo>
                    <a:pt x="0" y="0"/>
                  </a:moveTo>
                  <a:lnTo>
                    <a:pt x="2182368" y="0"/>
                  </a:lnTo>
                  <a:lnTo>
                    <a:pt x="2182368" y="2182368"/>
                  </a:lnTo>
                  <a:lnTo>
                    <a:pt x="0" y="2182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1" r="0" b="-301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1594033" y="2244389"/>
            <a:ext cx="15338109" cy="0"/>
          </a:xfrm>
          <a:prstGeom prst="line">
            <a:avLst/>
          </a:prstGeom>
          <a:ln cap="rnd" w="19050">
            <a:solidFill>
              <a:srgbClr val="1D7B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3914920" y="9534525"/>
            <a:ext cx="4267200" cy="547688"/>
            <a:chOff x="0" y="0"/>
            <a:chExt cx="5689600" cy="7302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5689600" cy="739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4033" y="908866"/>
            <a:ext cx="14824617" cy="1319635"/>
            <a:chOff x="0" y="0"/>
            <a:chExt cx="19766156" cy="17595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66156" cy="1759514"/>
            </a:xfrm>
            <a:custGeom>
              <a:avLst/>
              <a:gdLst/>
              <a:ahLst/>
              <a:cxnLst/>
              <a:rect r="r" b="b" t="t" l="l"/>
              <a:pathLst>
                <a:path h="1759514" w="19766156">
                  <a:moveTo>
                    <a:pt x="0" y="0"/>
                  </a:moveTo>
                  <a:lnTo>
                    <a:pt x="19766156" y="0"/>
                  </a:lnTo>
                  <a:lnTo>
                    <a:pt x="19766156" y="1759514"/>
                  </a:lnTo>
                  <a:lnTo>
                    <a:pt x="0" y="17595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066" r="-11026" b="-20798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9766156" cy="182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spc="18">
                  <a:solidFill>
                    <a:srgbClr val="044484"/>
                  </a:solidFill>
                  <a:latin typeface="CanvaSansSC-Regular"/>
                  <a:ea typeface="CanvaSansSC-Regular"/>
                  <a:cs typeface="CanvaSansSC-Regular"/>
                  <a:sym typeface="CanvaSansSC-Regular"/>
                </a:rPr>
                <a:t> 시스템 전체 구조 : 온라인 실시간 추론 파이프라인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94033" y="3102977"/>
            <a:ext cx="15272865" cy="5582485"/>
          </a:xfrm>
          <a:custGeom>
            <a:avLst/>
            <a:gdLst/>
            <a:ahLst/>
            <a:cxnLst/>
            <a:rect r="r" b="b" t="t" l="l"/>
            <a:pathLst>
              <a:path h="5582485" w="15272865">
                <a:moveTo>
                  <a:pt x="0" y="0"/>
                </a:moveTo>
                <a:lnTo>
                  <a:pt x="15272866" y="0"/>
                </a:lnTo>
                <a:lnTo>
                  <a:pt x="15272866" y="5582485"/>
                </a:lnTo>
                <a:lnTo>
                  <a:pt x="0" y="55824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682" r="0" b="-32291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30142" y="591744"/>
            <a:ext cx="1636757" cy="1636757"/>
            <a:chOff x="0" y="0"/>
            <a:chExt cx="2182343" cy="21823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2368" cy="2182368"/>
            </a:xfrm>
            <a:custGeom>
              <a:avLst/>
              <a:gdLst/>
              <a:ahLst/>
              <a:cxnLst/>
              <a:rect r="r" b="b" t="t" l="l"/>
              <a:pathLst>
                <a:path h="2182368" w="2182368">
                  <a:moveTo>
                    <a:pt x="0" y="0"/>
                  </a:moveTo>
                  <a:lnTo>
                    <a:pt x="2182368" y="0"/>
                  </a:lnTo>
                  <a:lnTo>
                    <a:pt x="2182368" y="2182368"/>
                  </a:lnTo>
                  <a:lnTo>
                    <a:pt x="0" y="2182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1" r="0" b="-301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1594033" y="2244389"/>
            <a:ext cx="15338109" cy="0"/>
          </a:xfrm>
          <a:prstGeom prst="line">
            <a:avLst/>
          </a:prstGeom>
          <a:ln cap="rnd" w="19050">
            <a:solidFill>
              <a:srgbClr val="1D7B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3924445" y="9534525"/>
            <a:ext cx="4267200" cy="547688"/>
            <a:chOff x="0" y="0"/>
            <a:chExt cx="5689600" cy="7302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5689600" cy="739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Arimo"/>
                  <a:ea typeface="Arimo"/>
                  <a:cs typeface="Arimo"/>
                  <a:sym typeface="Arimo"/>
                </a:rPr>
                <a:t>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65054" y="924754"/>
            <a:ext cx="14824617" cy="1319635"/>
            <a:chOff x="0" y="0"/>
            <a:chExt cx="19766156" cy="17595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66156" cy="1759514"/>
            </a:xfrm>
            <a:custGeom>
              <a:avLst/>
              <a:gdLst/>
              <a:ahLst/>
              <a:cxnLst/>
              <a:rect r="r" b="b" t="t" l="l"/>
              <a:pathLst>
                <a:path h="1759514" w="19766156">
                  <a:moveTo>
                    <a:pt x="0" y="0"/>
                  </a:moveTo>
                  <a:lnTo>
                    <a:pt x="19766156" y="0"/>
                  </a:lnTo>
                  <a:lnTo>
                    <a:pt x="19766156" y="1759514"/>
                  </a:lnTo>
                  <a:lnTo>
                    <a:pt x="0" y="17595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066" r="-11026" b="-20798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9766156" cy="182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spc="18">
                  <a:solidFill>
                    <a:srgbClr val="044484"/>
                  </a:solidFill>
                  <a:latin typeface="CanvaSansSC-Regular"/>
                  <a:ea typeface="CanvaSansSC-Regular"/>
                  <a:cs typeface="CanvaSansSC-Regular"/>
                  <a:sym typeface="CanvaSansSC-Regular"/>
                </a:rPr>
                <a:t> 데이터셋 소개</a:t>
              </a:r>
            </a:p>
          </p:txBody>
        </p:sp>
      </p:grpSp>
      <p:graphicFrame>
        <p:nvGraphicFramePr>
          <p:cNvPr name="Object 11" id="11"/>
          <p:cNvGraphicFramePr/>
          <p:nvPr/>
        </p:nvGraphicFramePr>
        <p:xfrm>
          <a:off x="1630297" y="3132252"/>
          <a:ext cx="7543800" cy="2514600"/>
        </p:xfrm>
        <a:graphic>
          <a:graphicData uri="http://schemas.openxmlformats.org/presentationml/2006/ole">
            <p:oleObj imgW="9042400" imgH="4013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30142" y="591744"/>
            <a:ext cx="1636757" cy="1636757"/>
            <a:chOff x="0" y="0"/>
            <a:chExt cx="2182343" cy="21823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2368" cy="2182368"/>
            </a:xfrm>
            <a:custGeom>
              <a:avLst/>
              <a:gdLst/>
              <a:ahLst/>
              <a:cxnLst/>
              <a:rect r="r" b="b" t="t" l="l"/>
              <a:pathLst>
                <a:path h="2182368" w="2182368">
                  <a:moveTo>
                    <a:pt x="0" y="0"/>
                  </a:moveTo>
                  <a:lnTo>
                    <a:pt x="2182368" y="0"/>
                  </a:lnTo>
                  <a:lnTo>
                    <a:pt x="2182368" y="2182368"/>
                  </a:lnTo>
                  <a:lnTo>
                    <a:pt x="0" y="2182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1" r="0" b="-301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1594033" y="2244389"/>
            <a:ext cx="15338109" cy="0"/>
          </a:xfrm>
          <a:prstGeom prst="line">
            <a:avLst/>
          </a:prstGeom>
          <a:ln cap="rnd" w="19050">
            <a:solidFill>
              <a:srgbClr val="1D7B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3914920" y="9534525"/>
            <a:ext cx="4267200" cy="547688"/>
            <a:chOff x="0" y="0"/>
            <a:chExt cx="5689600" cy="7302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5689600" cy="739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Arimo"/>
                  <a:ea typeface="Arimo"/>
                  <a:cs typeface="Arimo"/>
                  <a:sym typeface="Arimo"/>
                </a:rPr>
                <a:t>7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65054" y="924754"/>
            <a:ext cx="14824617" cy="1319635"/>
            <a:chOff x="0" y="0"/>
            <a:chExt cx="19766156" cy="17595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66156" cy="1759514"/>
            </a:xfrm>
            <a:custGeom>
              <a:avLst/>
              <a:gdLst/>
              <a:ahLst/>
              <a:cxnLst/>
              <a:rect r="r" b="b" t="t" l="l"/>
              <a:pathLst>
                <a:path h="1759514" w="19766156">
                  <a:moveTo>
                    <a:pt x="0" y="0"/>
                  </a:moveTo>
                  <a:lnTo>
                    <a:pt x="19766156" y="0"/>
                  </a:lnTo>
                  <a:lnTo>
                    <a:pt x="19766156" y="1759514"/>
                  </a:lnTo>
                  <a:lnTo>
                    <a:pt x="0" y="17595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066" r="-11026" b="-20798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9766156" cy="182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spc="18">
                  <a:solidFill>
                    <a:srgbClr val="044484"/>
                  </a:solidFill>
                  <a:latin typeface="CanvaSansSC-Regular"/>
                  <a:ea typeface="CanvaSansSC-Regular"/>
                  <a:cs typeface="CanvaSansSC-Regular"/>
                  <a:sym typeface="CanvaSansSC-Regular"/>
                </a:rPr>
                <a:t> 적용 AI 모델 검토 후보군</a:t>
              </a:r>
            </a:p>
          </p:txBody>
        </p:sp>
      </p:grpSp>
      <p:graphicFrame>
        <p:nvGraphicFramePr>
          <p:cNvPr name="Object 11" id="11"/>
          <p:cNvGraphicFramePr/>
          <p:nvPr/>
        </p:nvGraphicFramePr>
        <p:xfrm>
          <a:off x="1565054" y="2478379"/>
          <a:ext cx="7543800" cy="2514600"/>
        </p:xfrm>
        <a:graphic>
          <a:graphicData uri="http://schemas.openxmlformats.org/presentationml/2006/ole">
            <p:oleObj imgW="9042400" imgH="4013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30142" y="591744"/>
            <a:ext cx="1636757" cy="1636757"/>
            <a:chOff x="0" y="0"/>
            <a:chExt cx="2182343" cy="21823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2368" cy="2182368"/>
            </a:xfrm>
            <a:custGeom>
              <a:avLst/>
              <a:gdLst/>
              <a:ahLst/>
              <a:cxnLst/>
              <a:rect r="r" b="b" t="t" l="l"/>
              <a:pathLst>
                <a:path h="2182368" w="2182368">
                  <a:moveTo>
                    <a:pt x="0" y="0"/>
                  </a:moveTo>
                  <a:lnTo>
                    <a:pt x="2182368" y="0"/>
                  </a:lnTo>
                  <a:lnTo>
                    <a:pt x="2182368" y="2182368"/>
                  </a:lnTo>
                  <a:lnTo>
                    <a:pt x="0" y="2182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1" r="0" b="-301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1594033" y="2244389"/>
            <a:ext cx="15338109" cy="0"/>
          </a:xfrm>
          <a:prstGeom prst="line">
            <a:avLst/>
          </a:prstGeom>
          <a:ln cap="rnd" w="19050">
            <a:solidFill>
              <a:srgbClr val="1D7B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3914920" y="9534525"/>
            <a:ext cx="4267200" cy="547688"/>
            <a:chOff x="0" y="0"/>
            <a:chExt cx="5689600" cy="7302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5689600" cy="739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Arimo"/>
                  <a:ea typeface="Arimo"/>
                  <a:cs typeface="Arimo"/>
                  <a:sym typeface="Arimo"/>
                </a:rPr>
                <a:t>8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65054" y="924754"/>
            <a:ext cx="14824617" cy="1319635"/>
            <a:chOff x="0" y="0"/>
            <a:chExt cx="19766156" cy="17595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66156" cy="1759514"/>
            </a:xfrm>
            <a:custGeom>
              <a:avLst/>
              <a:gdLst/>
              <a:ahLst/>
              <a:cxnLst/>
              <a:rect r="r" b="b" t="t" l="l"/>
              <a:pathLst>
                <a:path h="1759514" w="19766156">
                  <a:moveTo>
                    <a:pt x="0" y="0"/>
                  </a:moveTo>
                  <a:lnTo>
                    <a:pt x="19766156" y="0"/>
                  </a:lnTo>
                  <a:lnTo>
                    <a:pt x="19766156" y="1759514"/>
                  </a:lnTo>
                  <a:lnTo>
                    <a:pt x="0" y="17595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066" r="-11026" b="-20798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9766156" cy="182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spc="18">
                  <a:solidFill>
                    <a:srgbClr val="044484"/>
                  </a:solidFill>
                  <a:latin typeface="CanvaSansSC-Regular"/>
                  <a:ea typeface="CanvaSansSC-Regular"/>
                  <a:cs typeface="CanvaSansSC-Regular"/>
                  <a:sym typeface="CanvaSansSC-Regular"/>
                </a:rPr>
                <a:t> 사용자 및 공무원 화면 (UI)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167407" y="2560164"/>
            <a:ext cx="13619911" cy="7522048"/>
          </a:xfrm>
          <a:custGeom>
            <a:avLst/>
            <a:gdLst/>
            <a:ahLst/>
            <a:cxnLst/>
            <a:rect r="r" b="b" t="t" l="l"/>
            <a:pathLst>
              <a:path h="7522048" w="13619911">
                <a:moveTo>
                  <a:pt x="0" y="0"/>
                </a:moveTo>
                <a:lnTo>
                  <a:pt x="13619911" y="0"/>
                </a:lnTo>
                <a:lnTo>
                  <a:pt x="13619911" y="7522048"/>
                </a:lnTo>
                <a:lnTo>
                  <a:pt x="0" y="75220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41" t="-1192" r="0" b="-20534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30142" y="591744"/>
            <a:ext cx="1636757" cy="1636757"/>
            <a:chOff x="0" y="0"/>
            <a:chExt cx="2182343" cy="21823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2368" cy="2182368"/>
            </a:xfrm>
            <a:custGeom>
              <a:avLst/>
              <a:gdLst/>
              <a:ahLst/>
              <a:cxnLst/>
              <a:rect r="r" b="b" t="t" l="l"/>
              <a:pathLst>
                <a:path h="2182368" w="2182368">
                  <a:moveTo>
                    <a:pt x="0" y="0"/>
                  </a:moveTo>
                  <a:lnTo>
                    <a:pt x="2182368" y="0"/>
                  </a:lnTo>
                  <a:lnTo>
                    <a:pt x="2182368" y="2182368"/>
                  </a:lnTo>
                  <a:lnTo>
                    <a:pt x="0" y="2182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1" r="0" b="-301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1594033" y="2244389"/>
            <a:ext cx="15338109" cy="0"/>
          </a:xfrm>
          <a:prstGeom prst="line">
            <a:avLst/>
          </a:prstGeom>
          <a:ln cap="rnd" w="19050">
            <a:solidFill>
              <a:srgbClr val="1D7B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3914920" y="9534525"/>
            <a:ext cx="4267200" cy="547688"/>
            <a:chOff x="0" y="0"/>
            <a:chExt cx="5689600" cy="7302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5689600" cy="739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Arimo"/>
                  <a:ea typeface="Arimo"/>
                  <a:cs typeface="Arimo"/>
                  <a:sym typeface="Arimo"/>
                </a:rPr>
                <a:t>9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65054" y="924754"/>
            <a:ext cx="14824617" cy="1319635"/>
            <a:chOff x="0" y="0"/>
            <a:chExt cx="19766156" cy="17595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66156" cy="1759514"/>
            </a:xfrm>
            <a:custGeom>
              <a:avLst/>
              <a:gdLst/>
              <a:ahLst/>
              <a:cxnLst/>
              <a:rect r="r" b="b" t="t" l="l"/>
              <a:pathLst>
                <a:path h="1759514" w="19766156">
                  <a:moveTo>
                    <a:pt x="0" y="0"/>
                  </a:moveTo>
                  <a:lnTo>
                    <a:pt x="19766156" y="0"/>
                  </a:lnTo>
                  <a:lnTo>
                    <a:pt x="19766156" y="1759514"/>
                  </a:lnTo>
                  <a:lnTo>
                    <a:pt x="0" y="17595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066" r="-11026" b="-20798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9766156" cy="182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spc="18">
                  <a:solidFill>
                    <a:srgbClr val="044484"/>
                  </a:solidFill>
                  <a:latin typeface="CanvaSansSC-Regular"/>
                  <a:ea typeface="CanvaSansSC-Regular"/>
                  <a:cs typeface="CanvaSansSC-Regular"/>
                  <a:sym typeface="CanvaSansSC-Regular"/>
                </a:rPr>
                <a:t> 핵심 기술 전략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54256" y="2657384"/>
            <a:ext cx="14379489" cy="615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6999"/>
              </a:lnSpc>
              <a:buFont typeface="Arial"/>
              <a:buChar char="•"/>
            </a:pPr>
            <a:r>
              <a:rPr lang="en-US" sz="3499" spc="1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카테고리 사전 필터링: </a:t>
            </a:r>
            <a:r>
              <a:rPr lang="en-US" sz="3499" spc="10" u="sng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1단계</a:t>
            </a:r>
            <a:r>
              <a:rPr lang="en-US" sz="3499" spc="1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분류 결과를 활용해 다른 분야 법률 검색을 차단하여 검색 정확도 향상</a:t>
            </a:r>
          </a:p>
          <a:p>
            <a:pPr algn="l" marL="755649" indent="-377824" lvl="1">
              <a:lnSpc>
                <a:spcPts val="6999"/>
              </a:lnSpc>
              <a:buFont typeface="Arial"/>
              <a:buChar char="•"/>
            </a:pPr>
            <a:r>
              <a:rPr lang="en-US" sz="3499" spc="10" u="sng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2단계</a:t>
            </a:r>
            <a:r>
              <a:rPr lang="en-US" sz="3499" spc="1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계층 검색: </a:t>
            </a:r>
            <a:r>
              <a:rPr lang="en-US" sz="3499" spc="1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국가 법률과 대전시 자치조례를 함께 찾아 지자체 권한에 맞는 답변 작성 </a:t>
            </a:r>
          </a:p>
          <a:p>
            <a:pPr algn="l" marL="755649" indent="-377824" lvl="1">
              <a:lnSpc>
                <a:spcPts val="6999"/>
              </a:lnSpc>
              <a:buFont typeface="Arial"/>
              <a:buChar char="•"/>
            </a:pPr>
            <a:r>
              <a:rPr lang="en-US" sz="3499" spc="1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조항</a:t>
            </a:r>
            <a:r>
              <a:rPr lang="en-US" sz="3499" spc="1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표기 필수화: 모든 답변에 관련 법조문을 의무적으로 적도록 제한하여 정확성 확보</a:t>
            </a:r>
          </a:p>
          <a:p>
            <a:pPr algn="l">
              <a:lnSpc>
                <a:spcPts val="699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30142" y="591744"/>
            <a:ext cx="1636757" cy="1636757"/>
            <a:chOff x="0" y="0"/>
            <a:chExt cx="2182343" cy="21823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2368" cy="2182368"/>
            </a:xfrm>
            <a:custGeom>
              <a:avLst/>
              <a:gdLst/>
              <a:ahLst/>
              <a:cxnLst/>
              <a:rect r="r" b="b" t="t" l="l"/>
              <a:pathLst>
                <a:path h="2182368" w="2182368">
                  <a:moveTo>
                    <a:pt x="0" y="0"/>
                  </a:moveTo>
                  <a:lnTo>
                    <a:pt x="2182368" y="0"/>
                  </a:lnTo>
                  <a:lnTo>
                    <a:pt x="2182368" y="2182368"/>
                  </a:lnTo>
                  <a:lnTo>
                    <a:pt x="0" y="2182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1" r="0" b="-301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1594033" y="2244389"/>
            <a:ext cx="15338109" cy="0"/>
          </a:xfrm>
          <a:prstGeom prst="line">
            <a:avLst/>
          </a:prstGeom>
          <a:ln cap="rnd" w="19050">
            <a:solidFill>
              <a:srgbClr val="1D7B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3914920" y="9534525"/>
            <a:ext cx="4267200" cy="547688"/>
            <a:chOff x="0" y="0"/>
            <a:chExt cx="5689600" cy="7302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1"/>
            </a:xfrm>
            <a:custGeom>
              <a:avLst/>
              <a:gdLst/>
              <a:ahLst/>
              <a:cxnLst/>
              <a:rect r="r" b="b" t="t" l="l"/>
              <a:pathLst>
                <a:path h="7302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1"/>
                  </a:lnTo>
                  <a:lnTo>
                    <a:pt x="0" y="730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5689600" cy="739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Arimo"/>
                  <a:ea typeface="Arimo"/>
                  <a:cs typeface="Arimo"/>
                  <a:sym typeface="Arimo"/>
                </a:rPr>
                <a:t>10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65054" y="924754"/>
            <a:ext cx="14824617" cy="1319635"/>
            <a:chOff x="0" y="0"/>
            <a:chExt cx="19766156" cy="17595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66156" cy="1759514"/>
            </a:xfrm>
            <a:custGeom>
              <a:avLst/>
              <a:gdLst/>
              <a:ahLst/>
              <a:cxnLst/>
              <a:rect r="r" b="b" t="t" l="l"/>
              <a:pathLst>
                <a:path h="1759514" w="19766156">
                  <a:moveTo>
                    <a:pt x="0" y="0"/>
                  </a:moveTo>
                  <a:lnTo>
                    <a:pt x="19766156" y="0"/>
                  </a:lnTo>
                  <a:lnTo>
                    <a:pt x="19766156" y="1759514"/>
                  </a:lnTo>
                  <a:lnTo>
                    <a:pt x="0" y="17595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066" r="-11026" b="-20798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9766156" cy="182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spc="18">
                  <a:solidFill>
                    <a:srgbClr val="044484"/>
                  </a:solidFill>
                  <a:latin typeface="CanvaSansSC-Regular"/>
                  <a:ea typeface="CanvaSansSC-Regular"/>
                  <a:cs typeface="CanvaSansSC-Regular"/>
                  <a:sym typeface="CanvaSansSC-Regular"/>
                </a:rPr>
                <a:t> 기대 효과 및 추진 일정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054543" y="2216943"/>
            <a:ext cx="14178913" cy="7591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spc="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1. 기대 효과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처</a:t>
            </a:r>
            <a:r>
              <a:rPr lang="en-US" sz="3000" spc="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리 시간 단축: 반복 민원</a:t>
            </a:r>
            <a:r>
              <a:rPr lang="en-US" sz="3000" spc="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분류 및 배정 시간 감소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답변 오류 방지: 최신 대전시 조례 직접 인용을 통한 행정 실수 예방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업무 효율화: </a:t>
            </a:r>
            <a:r>
              <a:rPr lang="en-US" sz="3000" spc="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단순 안내문 자동 작성으로 주요 현안 민원 집중 </a:t>
            </a:r>
            <a:r>
              <a:rPr lang="en-US" sz="3000" spc="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가능</a:t>
            </a:r>
          </a:p>
          <a:p>
            <a:pPr algn="l">
              <a:lnSpc>
                <a:spcPts val="6000"/>
              </a:lnSpc>
            </a:pPr>
          </a:p>
          <a:p>
            <a:pPr algn="l">
              <a:lnSpc>
                <a:spcPts val="6000"/>
              </a:lnSpc>
            </a:pPr>
            <a:r>
              <a:rPr lang="en-US" sz="3000" spc="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2. 추진 일정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1단계: 대전시 교통·주택 분야 중심 조례 데이터베이스 구축 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2단계: 분류 모델 및 초안 생성 시스템 통합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3단계: 실제 민원 사례를 바탕으로 분류 및 조례 인용 정확도 검증</a:t>
            </a:r>
          </a:p>
          <a:p>
            <a:pPr algn="l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4034" y="3090552"/>
            <a:ext cx="16155266" cy="2565351"/>
            <a:chOff x="0" y="0"/>
            <a:chExt cx="21540354" cy="3420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40350" cy="3420462"/>
            </a:xfrm>
            <a:custGeom>
              <a:avLst/>
              <a:gdLst/>
              <a:ahLst/>
              <a:cxnLst/>
              <a:rect r="r" b="b" t="t" l="l"/>
              <a:pathLst>
                <a:path h="3420462" w="21540350">
                  <a:moveTo>
                    <a:pt x="0" y="0"/>
                  </a:moveTo>
                  <a:lnTo>
                    <a:pt x="21540350" y="0"/>
                  </a:lnTo>
                  <a:lnTo>
                    <a:pt x="21540350" y="3420462"/>
                  </a:lnTo>
                  <a:lnTo>
                    <a:pt x="0" y="34204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427" r="-5844" b="-7732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540354" cy="34490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00206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Thank You </a:t>
              </a:r>
            </a:p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00206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for Your Attention!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098593" y="5853875"/>
            <a:ext cx="2090823" cy="904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b="true" sz="5799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Q &amp; 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822940"/>
            <a:ext cx="1348816" cy="1174366"/>
            <a:chOff x="0" y="0"/>
            <a:chExt cx="1798422" cy="15658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8447" cy="1565783"/>
            </a:xfrm>
            <a:custGeom>
              <a:avLst/>
              <a:gdLst/>
              <a:ahLst/>
              <a:cxnLst/>
              <a:rect r="r" b="b" t="t" l="l"/>
              <a:pathLst>
                <a:path h="1565783" w="1798447">
                  <a:moveTo>
                    <a:pt x="0" y="0"/>
                  </a:moveTo>
                  <a:lnTo>
                    <a:pt x="1798447" y="0"/>
                  </a:lnTo>
                  <a:lnTo>
                    <a:pt x="1798447" y="1565783"/>
                  </a:lnTo>
                  <a:lnTo>
                    <a:pt x="0" y="1565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230142" y="591744"/>
            <a:ext cx="1636757" cy="1636757"/>
            <a:chOff x="0" y="0"/>
            <a:chExt cx="2182343" cy="21823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2368" cy="2182368"/>
            </a:xfrm>
            <a:custGeom>
              <a:avLst/>
              <a:gdLst/>
              <a:ahLst/>
              <a:cxnLst/>
              <a:rect r="r" b="b" t="t" l="l"/>
              <a:pathLst>
                <a:path h="2182368" w="2182368">
                  <a:moveTo>
                    <a:pt x="0" y="0"/>
                  </a:moveTo>
                  <a:lnTo>
                    <a:pt x="2182368" y="0"/>
                  </a:lnTo>
                  <a:lnTo>
                    <a:pt x="2182368" y="2182368"/>
                  </a:lnTo>
                  <a:lnTo>
                    <a:pt x="0" y="2182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01" r="0" b="-30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DAHUy0VuodI</dc:identifier>
  <dcterms:modified xsi:type="dcterms:W3CDTF">2011-08-01T06:04:30Z</dcterms:modified>
  <cp:revision>1</cp:revision>
  <dc:title>공공 행정 효율화를 위한 RAG 기반 법령 근거 답변 초안 생성 시스템</dc:title>
</cp:coreProperties>
</file>